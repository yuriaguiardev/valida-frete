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LINGUAGENS FORMAIS E AUTÔMATOS · TRABALHO DO 1º BIMESTRE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ValidaFrete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ADCFC"/>
                </a:solidFill>
                <a:latin typeface="Calibri"/>
              </a:rPr>
              <a:t>Validador de cadastros de fretes com Expressões Regulares e AFNε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5943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Yuri Aguiar  ·  Pedro Paulo  ·  João Rath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Turma CC6NA  · 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37160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029967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029967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688336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688336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3346704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346704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05072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005072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66344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66344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R$ 1.250,00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Cadastros de fretes chegam cheios de erros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4206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Transportadoras recebem planilhas preenchidas à mão por filiais, parceiros e clientes.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Erros de formato só aparecem quando a nota fiscal é recusada ou o motorista não é encontrado.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F2933"/>
                </a:solidFill>
                <a:latin typeface="Calibri"/>
              </a:rPr>
              <a:t>Desde julho de 2026 </a:t>
            </a:r>
            <a:r>
              <a:rPr sz="1600" b="0" i="0">
                <a:solidFill>
                  <a:srgbClr val="1F2933"/>
                </a:solidFill>
                <a:latin typeface="Calibri"/>
              </a:rPr>
              <a:t>o CNPJ também pode ter letras (IN RFB 2.229/2024): validações antigas rejeitam cadastros corretos.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4173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0" y="14173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CNPJ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184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79" y="16184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4173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máscara pela metade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3317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3317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Placa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5328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25328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3317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Mercosul não tem hífen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32461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2461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Telefone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4472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4472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2461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DDD 23 não existe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1605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41605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3616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43616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1605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abril tem só 30 dias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0749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50749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Valor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52760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52760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R$ 1.23,45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0749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grupo de milhar com 2 dígitos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 solução: entrada, processamento e saída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Valor digitado, com o tipo escolhido ou identificado automaticamente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Planilha CSV: id;cnpj;placa;telefone;data;valor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091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Processamento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re.fullmatch com a ER de cada campo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Se rejeitado: simulação do AFNε para achar o símbolo que falhou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Saída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Aceita / rejeitada, com posição e motivo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Resumo por ER, tabela de erros e relatório CSV para download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Python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Flask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módulo 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Graphviz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Uma única fonte para a mesma linguagem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B7F"/>
                </a:solidFill>
                <a:latin typeface="Calibri"/>
              </a:rPr>
              <a:t>Regra central do trabalho: ER formal, slides, código, testes e AFNε devem representar a mesma linguagem.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2971800"/>
            <a:ext cx="3246120" cy="1325880"/>
          </a:xfrm>
          <a:prstGeom prst="roundRect">
            <a:avLst>
              <a:gd name="adj" fmla="val 8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3017520"/>
            <a:ext cx="324612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ourier New"/>
              </a:rPr>
              <a:t>expressoes.py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5 ERs: formal, padrão, Σ, linguagem, limitações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validador.py + app.py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re.fullmatch valida cada campo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casos_teste.py + tests/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80 casos, 223 testes automatizados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97763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afn.py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Thompson gera o AFNε a partir do padrão do código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2667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scripts/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diagramas, fichas, relatório e estes slides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772667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Testes comparam AFNε × re.fullmatch em 15.000 cadeias geradas: 0 divergências.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 Expressão Regular ao AFNε: construção de Thompson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Símbolo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</a:t>
            </a:r>
          </a:p>
        </p:txBody>
      </p:sp>
      <p:pic>
        <p:nvPicPr>
          <p:cNvPr id="5" name="Picture 4" descr="mini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275" y="2344043"/>
            <a:ext cx="1875169" cy="5239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União r | 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a|b</a:t>
            </a:r>
          </a:p>
        </p:txBody>
      </p:sp>
      <p:pic>
        <p:nvPicPr>
          <p:cNvPr id="8" name="Picture 7" descr="mini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13354"/>
            <a:ext cx="3246120" cy="985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Concatenação rs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ab</a:t>
            </a:r>
          </a:p>
        </p:txBody>
      </p:sp>
      <p:pic>
        <p:nvPicPr>
          <p:cNvPr id="11" name="Picture 10" descr="mini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617" y="2344043"/>
            <a:ext cx="2560644" cy="523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Fecho de Kleene r*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a*</a:t>
            </a:r>
          </a:p>
        </p:txBody>
      </p:sp>
      <p:pic>
        <p:nvPicPr>
          <p:cNvPr id="14" name="Picture 13" descr="mini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43032"/>
            <a:ext cx="3246120" cy="71513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9767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Opcional r? = (r | ε)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a?</a:t>
            </a:r>
          </a:p>
        </p:txBody>
      </p:sp>
      <p:pic>
        <p:nvPicPr>
          <p:cNvPr id="17" name="Picture 16" descr="mini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315" y="4538603"/>
            <a:ext cx="1875169" cy="52399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1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Repetição r{3} = rrr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a{3}</a:t>
            </a:r>
          </a:p>
        </p:txBody>
      </p:sp>
      <p:pic>
        <p:nvPicPr>
          <p:cNvPr id="20" name="Picture 19" descr="mini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79" y="4538603"/>
            <a:ext cx="3246120" cy="5239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6B7F"/>
                </a:solidFill>
                <a:latin typeface="Calibri"/>
              </a:rPr>
              <a:t>Setas tracejadas = movimentos ε. 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Simplificações que preservam a linguagem: a concatenação funde o final de r com o início de s, e r? usa um único ε para pular 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CNPJ do cliente (alfanumérico ou numérico)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A = M ∪ D (símbolos permitidos na raiz e na ordem do CNPJ)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{'.', '/', 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com 14 caracteres significativos: os 12 primeiros pertencem a A (letras maiúsculas ou dígitos) e os 2 últimos, os dígitos verificadores, pertencem a D. A cadeia é escrita sem máscara (14 símbolos seguidos) ou com a máscara completa AA.AAA.AAA/AAAA-DD; máscaras parciais não pertencem a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A{2} '.' A{3} '.' A{3} '/' A{4} '-' D{2}  |  A{12}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re.fullmatch(r"[A-Z0-9]{2}\.[A-Z0-9]{3}\.[A-Z0-9]{3}/[A-Z0-9]{4}-[0-9]{2}|[A-Z0-9]{12}[0-9]{2}",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finita: A = M ∪ D = (A | B | … | Z | 0 | 1 | … |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{2}, {3}, {4}, {12}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r{m} = r r … r (m cópias concatenadas)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Ponto literal '.' (o escape remove o significado de "qualquer caractere")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/  e  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'/' e '-' (fora de classes não são operadores)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|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formas: com máscara | sem máscara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 · CNPJ do cliente (alfanumérico ou numérico)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36 estados · 36 transições · 4 movimentos ε · inicial q0 · final q32 (círculo duplo)</a:t>
            </a:r>
          </a:p>
        </p:txBody>
      </p:sp>
      <p:pic>
        <p:nvPicPr>
          <p:cNvPr id="5" name="Picture 4" descr="cnpj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8083495" cy="890674"/>
          </a:xfrm>
          <a:prstGeom prst="rect">
            <a:avLst/>
          </a:prstGeom>
        </p:spPr>
      </p:pic>
      <p:pic>
        <p:nvPicPr>
          <p:cNvPr id="6" name="Picture 5" descr="cnpj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7500"/>
            <a:ext cx="11064240" cy="890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11.222.333/0001-81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11222333000181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A1.B2C.3D4/E5F6-07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AB.CDE.FGH/IJKL-12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ZZZZZZZZZZZZ99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00.000.000/0000-00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␣11222333000181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Placa do veículo (padrão antigo ou Mercosul)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Três letras maiúsculas seguidas de: (a) quatro dígitos, com ou sem um hífen entre as letras e os dígitos (padrão antigo); ou (b) dígito, letra e dois dígitos, sem hífen (padrão Mercosul).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M{3} ( ('-' | ε) D{4}  |  D M D{2}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re.fullmatch(r"[A-Z]{3}(-?[0-9]{4}|[0-9][A-Z][0-9]{2})",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M = (A | B | … | 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{3}, {4}, {2}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 (concatenação de cópias)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-?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Opcionalidade: ('-' | 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 … | …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Agrupamento da união entre padrão antigo e padrão Mercosul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 · Placa do veículo (padrão antigo ou Mercosul)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16 estados · 17 transições · 5 movimentos ε · inicial q0 · final q15 (círculo duplo)</a:t>
            </a:r>
          </a:p>
        </p:txBody>
      </p:sp>
      <p:pic>
        <p:nvPicPr>
          <p:cNvPr id="5" name="Picture 4" descr="er-02-pl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73059"/>
            <a:ext cx="11064240" cy="1123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RIO2A18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QWE0Z00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MNO-5678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AAA-0000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ZZZ9Z99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AB-1234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ABC␣1234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ABC1DE3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Telefone do motorista (fixo ou celular, com DDD válido)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F = {2, 3, 4, 5} (primeiro dígito de telefone fixo)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K = 1P | 2(1|2|4|7|8) | 3(1|2|3|4|5|7|8) | 4P | 5(1|3|4|5) | 6P | 7(1|3|4|5|7|9) | 8P | 9P  (os 67 DDDs em uso)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Σ = D ∪ {'+', '(', ')', '-', ␣}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Números de telefone formados por: prefixo internacional +55 opcional (seguido ou não de espaço); DDD pertencente a K, entre parênteses ou sem eles; espaço opcional; número de celular (9 seguido de 8 dígitos) ou fixo (dígito de 2 a 5 seguido de 7 dígitos), com hífen opcional antes dos 4 últimos dígitos.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( '+' 55 (␣ | ε) | ε ) ( '(' K ')' | K ) (␣ | ε) ( 9 D{4} | F D{3} ) ('-' | ε) D{4}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11887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3F0FF"/>
                </a:solidFill>
                <a:latin typeface="Courier New"/>
              </a:rPr>
              <a:t>re.fullmatch(r"(\+55 ?)?(\((1[1-9]|2[12478]|3[1-578]|4[1-9]|5[1345]|6[1-9]|7[134579]|8[1-9]|9[1-9])\)|(1[1-9]|2[12478]|3[1-578]|4[1-9]|5[1345]|6[1-9]|7[134579]|8[1-9]|9[1-9])) ?(9[0-9]{4}|[2-5][0-9]{3})-?[0-9]{4}",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2519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\+  \(  \)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5720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'+', '(' e ')' (escapados porque são operadores)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9377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(\+55 ?)?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9377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aninhada: ('+' 5 5 (␣ | ε)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53035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035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Intervalo: P = (1 | 2 | … | 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6692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[12478], [1-578], [1345], [134579]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6692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finitas: (1|2|4|7|8), (1|2|3|4|5|7|8), 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correspondente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84 estados · 105 transições · 48 movimentos ε · inicial q0 · final q83 (círculo duplo)</a:t>
            </a:r>
          </a:p>
        </p:txBody>
      </p:sp>
      <p:pic>
        <p:nvPicPr>
          <p:cNvPr id="5" name="Picture 4" descr="er-03-telef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69" y="1600200"/>
            <a:ext cx="109177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10312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'(' K ')'  DDD com parênteses 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↑ '+' 55 (␣ | ε)  opcional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60350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60350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← K  DDD sem parênteses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56616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56616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↓ celular 9D{4} | fixo FD{3}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Testes e o porquê de o DDD aparecer duas vezes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A41"/>
                </a:solidFill>
                <a:latin typeface="Calibri"/>
              </a:rPr>
              <a:t>Parênteses balanceados: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a ER é  '(' K ')' | K  — e não  '('? K ')'? , que aceitaria  (11 91234-5678.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Uma ER não tem memória para lembrar que abriu um parêntese; por isso a subexpressão K dos 67 DDDs é repetida, e o AFNε tem dois blocos de DDD.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+55␣(11)␣91234-5678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(21)␣3456-7890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11912345678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+5561987654321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(47)98888-0000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85␣3222-1100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+55␣31␣2345-6789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(99)␣90000-0000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(11␣91234-5678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(23)␣91234-5678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11␣81234-5678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11␣6123-4567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+55␣␣11␣91234-5678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11␣91234-567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+1␣(11)␣91234-5678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3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Data da coleta (DD/MM/AAAA com dia compatível com o mês)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{'/'}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Datas DD/MM/AAAA com ano entre 1900 e 2099 em que: os dias 01 a 29 ocorrem em qualquer mês; o dia 30 ocorre em todos os meses exceto fevereiro; e o dia 31 ocorre apenas em janeiro, março, maio, julho, agosto, outubro e dezembro.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mbria Math"/>
              </a:rPr>
              <a:t>( (0P | (1|2)D) '/' (0P | 1(0|1|2))  |  30 '/' (0(1|3|4|5|6|7|8|9) | 1(0|1|2))  |  31 '/' (0(1|3|5|7|8) | 1(0|2)) ) '/' (19 | 20)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re.fullmatch(r"((0[1-9]|[12][0-9])/(0[1-9]|1[0-2])|30/(0[13-9]|1[0-2])|31/(0[13578]|1[02]))/(19|20)[0-9]{2}",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0[1-9]|[12][0-9]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Dias 01–29: (0P | (1|2)D)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0[1-9]|1[0-2]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Meses 01–12: (0P | 1(0|1|2))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com intervalo: (1 | 3 | 4 | 5 | 6 | 7 | 8 | 9), ou seja, sem o 2 (fevereiro)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[13578], [02]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 dos meses com 31 dias: (1|3|5|7|8) e (0|2)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19|20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possibilidades de século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D 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 · Data da coleta (DD/MM/AAAA com dia compatível com o mês)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50 estados · 56 transições · 26 movimentos ε · inicial q0 · final q49 (círculo duplo)</a:t>
            </a:r>
          </a:p>
        </p:txBody>
      </p:sp>
      <p:pic>
        <p:nvPicPr>
          <p:cNvPr id="5" name="Picture 4" descr="er-04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424"/>
            <a:ext cx="11064240" cy="2326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01/01/2000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31/12/1999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31/01/1900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28/02/2099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31/04/2025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30/02/2024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00/10/2020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15/13/2020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1/1/2020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15/08/2100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15-08-2020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5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Valor do frete em reais (R$)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{R, '$', ␣, '.', ','}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iniciadas por R$, com espaço opcional, seguidas da parte inteira — 0, ou um número sem zero à esquerda escrito inteiramente com separadores de milhar '.' em grupos de três dígitos, ou inteiramente sem separadores — e, por fim, vírgula e dois dígitos de centavos.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R '$' (␣ | ε) ( 0  |  P D{0,2} ('.' D{3})*  |  P D* ) ','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re.fullmatch(r"R\$ ?(0|[1-9][0-9]{0,2}(\.[0-9]{3})*|[1-9][0-9]*),[0-9]{2}",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R\$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R e '$' ($ é escapado porque é âncora de fim no motor)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do espaço: (␣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[1-9][0-9]{0,2}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limitada: P D{0,2} = P (ε | D | 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(\.[0-9]{3})*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zero ou mais grupos de milhar '.' D D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P D* (inteiro sem separadores)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,[0-9]{2}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Vírgula literal seguida de exatamente dois dígitos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 · Valor do frete em reais (R$)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25 estados · 33 transições · 17 movimentos ε · inicial q0 · final q20 (círculo duplo)</a:t>
            </a:r>
          </a:p>
        </p:txBody>
      </p:sp>
      <p:pic>
        <p:nvPicPr>
          <p:cNvPr id="5" name="Picture 4" descr="er-05-va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252"/>
            <a:ext cx="11064240" cy="1792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R$␣1.234,56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R$1500,00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R$␣0,99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R$␣12.345.678,90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R$␣1000000,00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R$␣7,00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R$␣999,99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R$␣01,50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R$␣1.23,45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R$␣1234.567,00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R$␣10,5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1.234,56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R$␣1,234.56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R$␣-10,00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Entradas vazias ou inválidas geram mensagens claras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Valor vazio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Entrada vazia (ε): a palavra vazia não pertence à linguagem desta 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Símbolo fora de 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O símbolo ␣ (posição 19) não pertence ao alfabeto Σ. Verifique se há espaços sobrando no início ou no fim.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Falha no AFNε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Rejeitada na posição 5: depois de ler "31/0", o AFNε não tem transição com o símbolo '4'.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incompleta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Toda a entrada foi lida, mas o AFNε terminou em estados não finais.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Arquivo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Nenhum arquivo, extensão diferente de .csv, vazio, binário, maior que 1 MB ou sem registros.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Estrutura do 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Colunas ausentes no cabeçalho; linha com colunas a mais ou a menos é sinalizada e o restante continua sendo processado.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Calibri"/>
              </a:rPr>
              <a:t>Espaços extras não são removidos: " 11222333000181" é rejeitado, exatamente como nos testes — o programa reconhece a mesma linguagem da 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Demonstração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aceita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BRA2E19 → ER-02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rejeitada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5351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(23) 91234-5678 → DDD inexistente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Planilha de exemplo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15 fretes: 5 válidos, 10 com erros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834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Simulação no AFNε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33095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estados ativos a cada símbolo</a:t>
            </a:r>
          </a:p>
        </p:txBody>
      </p:sp>
      <p:pic>
        <p:nvPicPr>
          <p:cNvPr id="19" name="Picture 18" descr="tela_va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24488"/>
            <a:ext cx="7040880" cy="1917382"/>
          </a:xfrm>
          <a:prstGeom prst="rect">
            <a:avLst/>
          </a:prstGeom>
        </p:spPr>
      </p:pic>
      <p:pic>
        <p:nvPicPr>
          <p:cNvPr id="20" name="Picture 19" descr="tela_simu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946" y="3931920"/>
            <a:ext cx="4930986" cy="23774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B7F"/>
                </a:solidFill>
                <a:latin typeface="Calibri"/>
              </a:rPr>
              <a:t>Executar: python -m validafrete  →  http://127.0.0.1:5050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Testes e análise dos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223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testes automatizados
(pytest)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casos das ERs
8 aceitas + 8 rejeitadas por 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15.000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65176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cadeias comparando
AFNε × re.fullmatch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falhas ou
divergências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FALSOS RESULTADOS CONHECIDOS (a ER valida o formato, não a aritmética)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ER-01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00.000.000/0000-00 é aceito: dígitos verificadores não são calculados.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ER-03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DDD existente com número inativo é aceito.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ER-04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29/02/2023 é aceito: a ER não distingue anos bissextos.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FB0C6"/>
                </a:solidFill>
                <a:latin typeface="Calibri"/>
              </a:rPr>
              <a:t>Detalhes: docs/RESULTADOS_TESTES.md · página Testes da aplicação · python -m pytest -v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Limitações e possíveis melhorias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B42318"/>
                </a:solidFill>
                <a:latin typeface="Cambria"/>
              </a:rPr>
              <a:t>Limitações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Formato ≠ existência: DV do CNPJ, placa registrada e telefone ativo não são consultados.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29/02 aceito em qualquer ano (ER-04).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Sensível a maiúsculas e espaços, de propósito, para não alterar a linguagem.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AFNε de Thompson são grandes (84 estados na ER-03).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7B45"/>
                </a:solidFill>
                <a:latin typeface="Cambria"/>
              </a:rPr>
              <a:t>Melhorias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Validação semântica após a ER: DV módulo 11 e anos bissextos.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Converter AFNε em AFD (subconjuntos) e minimizar.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Normalização opcional com aviso ao usuário.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Novas ERs: CEP, chave da NF-e, RNTRC; planilhas .xlsx.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Contribuições da equipe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Yuri Aguiar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Arquitetura, as 5 ERs, AFNε (Thompson), validador, CSV, interface web, testes automatizados, documentação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Thompson · ER-03 · demonstração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199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Pedro Paulo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Dados de exemplo, casos de teste das ER-01 e ER-02, revisão da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 · ER-02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JR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João Rath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Casos de teste das ER-04 e ER-05, revisão da notação formal e do relatório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 · ER-05 · testes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910328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Em conjunto: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definição do problema, escolha das ERs e revisão dos AFNε.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Uso de IA: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Claude Code (Anthropic) apoiou a estrutura do projeto, o módulo do AFNε, os scripts de documentação e a redação inicial de README, relatório e slides. Todo o conteúdo foi revisado e é explicado pela equipe.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F2A541"/>
                </a:solidFill>
                <a:latin typeface="Calibri"/>
              </a:rP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Repositório: github.com/yuriaguiardev/valida-frete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Yuri Aguiar · Pedro Paulo · João Rath — CC6NA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