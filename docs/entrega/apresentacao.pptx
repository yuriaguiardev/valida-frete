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YURI: Apresentar a equipe e o tema. O ValidaFrete valida cadastros de fretes usando cinco Expressões Regulares e mostra, com o AFNε, onde cada valor falhou.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YURI: Contextualizar o problema. Cada linha da direita é um erro real que o programa detecta; todos estão no arquivo dados/fretes_exemplo.csv.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YURI: Explicar as três funções da aplicação: validar um valor, processar uma planilha e simular o AFNε. Tecnologias: Python, Flask para a interface, re para as ERs, pytest e Graphviz.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YURI: Nada foi escrito duas vezes. O validador, os testes, os diagramas e a documentação leem as ERs do mesmo módulo. O AFNε não é desenhado à mão: é gerado do padrão que o programa usa.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YURI: Explicar as regras de Thompson. Cada operador vira um fragmento com um estado inicial e um final. Estes mini-diagramas foram gerados pelo mesmo código que gera os AFNε das cinco 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PEDRO: Ler a finalidade: Validar o CNPJ da empresa que contrata o frete. Aceita o novo CNPJ alfanumérico (IN RFB nº 2.229/2024, em uso desde julho de 2026) e o formato numérico tradicional, com a máscara XX.XXX.XXX/XXXX-DD ou sem máscara. Mostrar que cada atalho da sintaxe do código corresponde a um operador formal (tabela de equivalência). re.fullmatch exige que a cadeia inteira pertença à linguagem, como as âncoras ^ e $.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PEDRO: Mostrar o estado inicial (seta 'início'), o final (círculo duplo) e os movimentos ε (tracejados). Percorrer uma cadeia aceita e uma rejeitada. Para ampliar o diagrama, abrir Expressões e AFNε &gt; ER-01 &gt; 'Abrir diagrama em tela cheia' na aplicação.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PEDRO: Ler a finalidade: Validar a placa do caminhão que fará a coleta. Aceita o padrão antigo brasileiro (LLL-NNNN, com hífen opcional) e o padrão Mercosul (LLLNLNN). Mostrar que cada atalho da sintaxe do código corresponde a um operador formal (tabela de equivalência). re.fullmatch exige que a cadeia inteira pertença à linguagem, como as âncoras ^ e $.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PEDRO: Mostrar o estado inicial (seta 'início'), o final (círculo duplo) e os movimentos ε (tracejados). Percorrer uma cadeia aceita e uma rejeitada. Para ampliar o diagrama, abrir Expressões e AFNε &gt; ER-02 &gt; 'Abrir diagrama em tela cheia' na aplicação.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YURI: Ler a finalidade: Validar o telefone de contato do motorista. Exige um DDD realmente em uso no Brasil (67 códigos da Anatel), aceita o prefixo +55 e o DDD com ou sem parênteses — sempre balanceados — e distingue celular (9 + 8 dígitos) de fixo (2 a 5 + 7 dígitos). Mostrar que cada atalho da sintaxe do código corresponde a um operador formal (tabela de equivalência). re.fullmatch exige que a cadeia inteira pertença à linguagem, como as âncoras ^ e $.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YURI: Mostrar o estado inicial (seta 'início'), o final (círculo duplo) e os movimentos ε (tracejados). Percorrer uma cadeia aceita e uma rejeitada. Para ampliar o diagrama, abrir Expressões e AFNε &gt; ER-03 &gt; 'Abrir diagrama em tela cheia' na aplicação.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YURI: Explicar a duplicação do DDD: é o custo de exigir parênteses balanceados sem memória. Destacar os casos-limite: DDD 99 (maior existente) e número com um dígito a menos.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JOÃO: Ler a finalidade: Validar a data agendada para a coleta. Além do formato, impede dias inexistentes como 31/04 ou 30/02, e restringe o ano ao intervalo 1900–2099. Mostrar que cada atalho da sintaxe do código corresponde a um operador formal (tabela de equivalência). re.fullmatch exige que a cadeia inteira pertença à linguagem, como as âncoras ^ e $.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JOÃO: Mostrar o estado inicial (seta 'início'), o final (círculo duplo) e os movimentos ε (tracejados). Percorrer uma cadeia aceita e uma rejeitada. Para ampliar o diagrama, abrir Expressões e AFNε &gt; ER-04 &gt; 'Abrir diagrama em tela cheia' na aplicação.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JOÃO: Ler a finalidade: Validar o valor cobrado pelo frete no padrão monetário brasileiro: prefixo R$, parte inteira sem zeros à esquerda, separador de milhar opcional (mas consistente) e exatamente dois centavos após a vírgula. Mostrar que cada atalho da sintaxe do código corresponde a um operador formal (tabela de equivalência). re.fullmatch exige que a cadeia inteira pertença à linguagem, como as âncoras ^ e $.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JOÃO: Mostrar o estado inicial (seta 'início'), o final (círculo duplo) e os movimentos ε (tracejados). Percorrer uma cadeia aceita e uma rejeitada. Para ampliar o diagrama, abrir Expressões e AFNε &gt; ER-05 &gt; 'Abrir diagrama em tela cheia' na aplicação.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JOÃO: O diagnóstico usa o AFNε: o programa lê a cadeia símbolo a símbolo e informa onde o conjunto de estados ficou vazio. Não fazemos strip para não mudar a linguagem.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PEDRO: Demonstração ao vivo. (1) Validar BRA2E19 em 'Identificar automaticamente'. (2) Validar (23) 91234-5678 e ler a mensagem. (3) Processar planilha &gt; Usar arquivo de exemplo; baixar o relatório. (4) Expressões e AFNε &gt; ER-02 &gt; simular BRA-2E19 e mostrar o conjunto vazio no passo 6. Se o professor pedir outra entrada, digitar na página inicial.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JOÃO: Cada caso é testado duas vezes, com a regex e com o AFNε. A comparação em 15.000 cadeias geradas por mutação mostra que autômato e código aceitam a mesma linguagem. Os falsos positivos são limitações documentadas, não erros.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JOÃO: Limitações são decisões conscientes: a ER descreve formato. As melhorias mostram como evoluir o trabalho, incluindo conteúdos da disciplina (AFD e minimização).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JOÃO: Apresentar a contribuição de cada integrante (ajustar se a divisão real for diferente) e a declaração de uso de IA exigida pelo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TODOS: Abrir para perguntas. Deixar a aplicação aberta para o professor sugerir novas entradas.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2A541"/>
                </a:solidFill>
                <a:latin typeface="Calibri"/>
              </a:rPr>
              <a:t>LINGUAGENS FORMAIS E AUTÔMATOS · TRABALHO DO 1º BIMESTRE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6583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mbria"/>
              </a:rPr>
              <a:t>ValidaFrete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6217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CADCFC"/>
                </a:solidFill>
                <a:latin typeface="Calibri"/>
              </a:rPr>
              <a:t>Validador de cadastros de fretes com Expressões Regulares e AFNε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5943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Pedro Paulo  ·  Yuri Aguiar  ·  João Rath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Turma CC6NA  ·  30/09/2026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371600"/>
            <a:ext cx="3566160" cy="475488"/>
          </a:xfrm>
          <a:prstGeom prst="roundRect">
            <a:avLst>
              <a:gd name="adj" fmla="val 30000"/>
            </a:avLst>
          </a:prstGeom>
          <a:solidFill>
            <a:srgbClr val="E3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371600"/>
            <a:ext cx="34290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7B45"/>
                </a:solidFill>
                <a:latin typeface="Calibri"/>
              </a:rPr>
              <a:t>✓ </a:t>
            </a:r>
            <a:r>
              <a:rPr sz="1500" b="0" i="0">
                <a:solidFill>
                  <a:srgbClr val="1F2933"/>
                </a:solidFill>
                <a:latin typeface="Courier New"/>
              </a:rPr>
              <a:t>12.ABC.345/01DE-35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029967"/>
            <a:ext cx="3566160" cy="475488"/>
          </a:xfrm>
          <a:prstGeom prst="roundRect">
            <a:avLst>
              <a:gd name="adj" fmla="val 30000"/>
            </a:avLst>
          </a:prstGeom>
          <a:solidFill>
            <a:srgbClr val="E3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029967"/>
            <a:ext cx="34290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7B45"/>
                </a:solidFill>
                <a:latin typeface="Calibri"/>
              </a:rPr>
              <a:t>✓ </a:t>
            </a:r>
            <a:r>
              <a:rPr sz="1500" b="0" i="0">
                <a:solidFill>
                  <a:srgbClr val="1F2933"/>
                </a:solidFill>
                <a:latin typeface="Courier New"/>
              </a:rPr>
              <a:t>BRA2E19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2688336"/>
            <a:ext cx="3566160" cy="475488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2688336"/>
            <a:ext cx="34290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500" b="0" i="0">
                <a:solidFill>
                  <a:srgbClr val="1F2933"/>
                </a:solidFill>
                <a:latin typeface="Courier New"/>
              </a:rPr>
              <a:t>ABC-1D23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3346704"/>
            <a:ext cx="3566160" cy="475488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3346704"/>
            <a:ext cx="34290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500" b="0" i="0">
                <a:solidFill>
                  <a:srgbClr val="1F2933"/>
                </a:solidFill>
                <a:latin typeface="Courier New"/>
              </a:rPr>
              <a:t>(23) 91234-5678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4005072"/>
            <a:ext cx="3566160" cy="475488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4005072"/>
            <a:ext cx="34290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500" b="0" i="0">
                <a:solidFill>
                  <a:srgbClr val="1F2933"/>
                </a:solidFill>
                <a:latin typeface="Courier New"/>
              </a:rPr>
              <a:t>31/04/2026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4663440"/>
            <a:ext cx="3566160" cy="475488"/>
          </a:xfrm>
          <a:prstGeom prst="roundRect">
            <a:avLst>
              <a:gd name="adj" fmla="val 30000"/>
            </a:avLst>
          </a:prstGeom>
          <a:solidFill>
            <a:srgbClr val="E3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4663440"/>
            <a:ext cx="34290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7B45"/>
                </a:solidFill>
                <a:latin typeface="Calibri"/>
              </a:rPr>
              <a:t>✓ </a:t>
            </a:r>
            <a:r>
              <a:rPr sz="1500" b="0" i="0">
                <a:solidFill>
                  <a:srgbClr val="1F2933"/>
                </a:solidFill>
                <a:latin typeface="Courier New"/>
              </a:rPr>
              <a:t>R$ 1.250,00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B2A41"/>
                </a:solidFill>
                <a:latin typeface="Cambria"/>
              </a:rPr>
              <a:t>Cadastros de fretes chegam cheios de erros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42062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F2933"/>
                </a:solidFill>
                <a:latin typeface="Calibri"/>
              </a:rPr>
              <a:t>Transportadoras recebem planilhas preenchidas à mão por filiais, parceiros e clientes.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F2933"/>
                </a:solidFill>
                <a:latin typeface="Calibri"/>
              </a:rPr>
              <a:t>Erros de formato só aparecem quando a nota fiscal é recusada ou o motorista não é encontrado.</a:t>
            </a:r>
          </a:p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1F2933"/>
                </a:solidFill>
                <a:latin typeface="Calibri"/>
              </a:rPr>
              <a:t>Desde julho de 2026 </a:t>
            </a:r>
            <a:r>
              <a:rPr sz="1600" b="0" i="0">
                <a:solidFill>
                  <a:srgbClr val="1F2933"/>
                </a:solidFill>
                <a:latin typeface="Calibri"/>
              </a:rPr>
              <a:t>o CNPJ também pode ter letras (IN RFB 2.229/2024): validações antigas rejeitam cadastros corretos.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0" y="1417320"/>
            <a:ext cx="6492240" cy="768096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0" y="1417320"/>
            <a:ext cx="118872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A41"/>
                </a:solidFill>
                <a:latin typeface="Calibri"/>
              </a:rPr>
              <a:t>CNPJ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18488"/>
            <a:ext cx="2651760" cy="365760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79" y="1618488"/>
            <a:ext cx="2514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200" b="0" i="0">
                <a:solidFill>
                  <a:srgbClr val="1F2933"/>
                </a:solidFill>
                <a:latin typeface="Courier New"/>
              </a:rPr>
              <a:t>12ABC345/01DE-35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417320"/>
            <a:ext cx="21945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B7F"/>
                </a:solidFill>
                <a:latin typeface="Calibri"/>
              </a:rPr>
              <a:t>máscara pela metade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2331720"/>
            <a:ext cx="6492240" cy="768096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2331720"/>
            <a:ext cx="118872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A41"/>
                </a:solidFill>
                <a:latin typeface="Calibri"/>
              </a:rPr>
              <a:t>Placa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532888"/>
            <a:ext cx="2651760" cy="365760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2532888"/>
            <a:ext cx="2514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200" b="0" i="0">
                <a:solidFill>
                  <a:srgbClr val="1F2933"/>
                </a:solidFill>
                <a:latin typeface="Courier New"/>
              </a:rPr>
              <a:t>ABC-1D23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2331720"/>
            <a:ext cx="21945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B7F"/>
                </a:solidFill>
                <a:latin typeface="Calibri"/>
              </a:rPr>
              <a:t>Mercosul não tem hífen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3246120"/>
            <a:ext cx="6492240" cy="768096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3246120"/>
            <a:ext cx="118872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A41"/>
                </a:solidFill>
                <a:latin typeface="Calibri"/>
              </a:rPr>
              <a:t>Telefone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3447288"/>
            <a:ext cx="2651760" cy="365760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79" y="3447288"/>
            <a:ext cx="2514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200" b="0" i="0">
                <a:solidFill>
                  <a:srgbClr val="1F2933"/>
                </a:solidFill>
                <a:latin typeface="Courier New"/>
              </a:rPr>
              <a:t>(23) 91234-5678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3246120"/>
            <a:ext cx="21945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B7F"/>
                </a:solidFill>
                <a:latin typeface="Calibri"/>
              </a:rPr>
              <a:t>DDD 23 não existe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4160520"/>
            <a:ext cx="6492240" cy="768096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4160520"/>
            <a:ext cx="118872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A41"/>
                </a:solidFill>
                <a:latin typeface="Calibri"/>
              </a:rPr>
              <a:t>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4361688"/>
            <a:ext cx="2651760" cy="365760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79" y="4361688"/>
            <a:ext cx="2514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200" b="0" i="0">
                <a:solidFill>
                  <a:srgbClr val="1F2933"/>
                </a:solidFill>
                <a:latin typeface="Courier New"/>
              </a:rPr>
              <a:t>31/04/2026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4160520"/>
            <a:ext cx="21945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B7F"/>
                </a:solidFill>
                <a:latin typeface="Calibri"/>
              </a:rPr>
              <a:t>abril tem só 30 dias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0" y="5074920"/>
            <a:ext cx="6492240" cy="768096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0" y="5074920"/>
            <a:ext cx="118872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A41"/>
                </a:solidFill>
                <a:latin typeface="Calibri"/>
              </a:rPr>
              <a:t>Valor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5276088"/>
            <a:ext cx="2651760" cy="365760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79" y="5276088"/>
            <a:ext cx="2514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200" b="0" i="0">
                <a:solidFill>
                  <a:srgbClr val="1F2933"/>
                </a:solidFill>
                <a:latin typeface="Courier New"/>
              </a:rPr>
              <a:t>R$ 1.23,45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5074920"/>
            <a:ext cx="21945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B7F"/>
                </a:solidFill>
                <a:latin typeface="Calibri"/>
              </a:rPr>
              <a:t>grupo de milhar com 2 dígitos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B2A41"/>
                </a:solidFill>
                <a:latin typeface="Cambria"/>
              </a:rPr>
              <a:t>A solução: entrada, processamento e saída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3429000" cy="338328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59" y="178308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7830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2A541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783080"/>
            <a:ext cx="2286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B2A41"/>
                </a:solidFill>
                <a:latin typeface="Cambria"/>
              </a:rPr>
              <a:t>Entrada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06040"/>
            <a:ext cx="29260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Valor digitado, com o tipo escolhido ou identificado automaticamente</a:t>
            </a:r>
          </a:p>
          <a:p>
            <a:pPr algn="l" marL="201168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Planilha CSV: id;cnpj;placa;telefone;data;valor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23359" y="3063240"/>
            <a:ext cx="365760" cy="365760"/>
          </a:xfrm>
          <a:prstGeom prst="rightArrow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34840" y="1554480"/>
            <a:ext cx="3429000" cy="338328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09159" y="178308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17830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2A541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79" y="1783080"/>
            <a:ext cx="2286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B2A41"/>
                </a:solidFill>
                <a:latin typeface="Cambria"/>
              </a:rPr>
              <a:t>Processamento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2606040"/>
            <a:ext cx="29260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re.fullmatch com a ER de cada campo</a:t>
            </a:r>
          </a:p>
          <a:p>
            <a:pPr algn="l" marL="201168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Se rejeitado: simulação do AFNε para achar o símbolo que falhou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909559" y="3063240"/>
            <a:ext cx="365760" cy="365760"/>
          </a:xfrm>
          <a:prstGeom prst="rightArrow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21040" y="1554480"/>
            <a:ext cx="3429000" cy="338328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95360" y="178308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7830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2A541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1783080"/>
            <a:ext cx="2286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B2A41"/>
                </a:solidFill>
                <a:latin typeface="Cambria"/>
              </a:rPr>
              <a:t>Saída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606040"/>
            <a:ext cx="29260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Aceita / rejeitada, com posição e motivo</a:t>
            </a:r>
          </a:p>
          <a:p>
            <a:pPr algn="l" marL="201168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Resumo por ER, tabela de erros e relatório CSV para download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94960"/>
            <a:ext cx="2011680" cy="502920"/>
          </a:xfrm>
          <a:prstGeom prst="roundRect">
            <a:avLst>
              <a:gd name="adj" fmla="val 3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39496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Python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34640" y="5394960"/>
            <a:ext cx="2011680" cy="502920"/>
          </a:xfrm>
          <a:prstGeom prst="roundRect">
            <a:avLst>
              <a:gd name="adj" fmla="val 3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40" y="539496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Flask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0" y="5394960"/>
            <a:ext cx="2011680" cy="502920"/>
          </a:xfrm>
          <a:prstGeom prst="roundRect">
            <a:avLst>
              <a:gd name="adj" fmla="val 3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0" y="539496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módulo 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06640" y="5394960"/>
            <a:ext cx="2011680" cy="502920"/>
          </a:xfrm>
          <a:prstGeom prst="roundRect">
            <a:avLst>
              <a:gd name="adj" fmla="val 3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539496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pytest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92640" y="5394960"/>
            <a:ext cx="2011680" cy="502920"/>
          </a:xfrm>
          <a:prstGeom prst="roundRect">
            <a:avLst>
              <a:gd name="adj" fmla="val 3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539496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Graphviz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B2A41"/>
                </a:solidFill>
                <a:latin typeface="Cambria"/>
              </a:rPr>
              <a:t>Uma única fonte para a mesma linguagem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5B6B7F"/>
                </a:solidFill>
                <a:latin typeface="Calibri"/>
              </a:rPr>
              <a:t>Regra central do trabalho: ER formal, slides, código, testes e AFNε devem representar a mesma linguagem.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2971800"/>
            <a:ext cx="3246120" cy="132588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80560" y="3017520"/>
            <a:ext cx="324612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2A541"/>
                </a:solidFill>
                <a:latin typeface="Courier New"/>
              </a:rPr>
              <a:t>expressoes.py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5 ERs: formal, padrão, Σ, linguagem, limitações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3429000" cy="118872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41"/>
                </a:solidFill>
                <a:latin typeface="Courier New"/>
              </a:rPr>
              <a:t>validador.py + app.py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re.fullmatch valida cada campo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77639" y="2606040"/>
            <a:ext cx="502921" cy="1024128"/>
          </a:xfrm>
          <a:prstGeom prst="line">
            <a:avLst/>
          </a:prstGeom>
          <a:ln w="31750">
            <a:solidFill>
              <a:srgbClr val="F2A5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4206240"/>
            <a:ext cx="3429000" cy="118872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41"/>
                </a:solidFill>
                <a:latin typeface="Courier New"/>
              </a:rPr>
              <a:t>casos_teste.py + tests/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80 casos, 223 testes automatizados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3977639" y="3630168"/>
            <a:ext cx="502921" cy="1170432"/>
          </a:xfrm>
          <a:prstGeom prst="line">
            <a:avLst/>
          </a:prstGeom>
          <a:ln w="31750">
            <a:solidFill>
              <a:srgbClr val="F2A5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29600" y="2011680"/>
            <a:ext cx="3429000" cy="118872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14884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41"/>
                </a:solidFill>
                <a:latin typeface="Courier New"/>
              </a:rPr>
              <a:t>afn.py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Thompson gera o AFNε a partir do padrão do código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7726679" y="2606040"/>
            <a:ext cx="502921" cy="1024128"/>
          </a:xfrm>
          <a:prstGeom prst="line">
            <a:avLst/>
          </a:prstGeom>
          <a:ln w="31750">
            <a:solidFill>
              <a:srgbClr val="F2A5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29600" y="4206240"/>
            <a:ext cx="3429000" cy="118872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434340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41"/>
                </a:solidFill>
                <a:latin typeface="Courier New"/>
              </a:rPr>
              <a:t>scripts/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diagramas, fichas, relatório e estes slides</a:t>
            </a:r>
          </a:p>
        </p:txBody>
      </p:sp>
      <p:cxnSp>
        <p:nvCxnSpPr>
          <p:cNvPr id="17" name="Connector 16"/>
          <p:cNvCxnSpPr/>
          <p:nvPr/>
        </p:nvCxnSpPr>
        <p:spPr>
          <a:xfrm flipH="1" flipV="1">
            <a:off x="7726679" y="3630168"/>
            <a:ext cx="502921" cy="1170432"/>
          </a:xfrm>
          <a:prstGeom prst="line">
            <a:avLst/>
          </a:prstGeom>
          <a:ln w="31750">
            <a:solidFill>
              <a:srgbClr val="F2A5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48640" y="5669280"/>
            <a:ext cx="11064240" cy="548640"/>
          </a:xfrm>
          <a:prstGeom prst="roundRect">
            <a:avLst>
              <a:gd name="adj" fmla="val 8000"/>
            </a:avLst>
          </a:prstGeom>
          <a:solidFill>
            <a:srgbClr val="E3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10789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7B45"/>
                </a:solidFill>
                <a:latin typeface="Calibri"/>
              </a:rPr>
              <a:t>Testes comparam AFNε × re.fullmatch em 15.000 cadeias geradas: 0 divergências.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B2A41"/>
                </a:solidFill>
                <a:latin typeface="Cambria"/>
              </a:rPr>
              <a:t>Da Expressão Regular ao AFNε: construção de Thompson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1"/>
                </a:solidFill>
                <a:latin typeface="Calibri"/>
              </a:rPr>
              <a:t>Símbolo</a:t>
            </a:r>
            <a:r>
              <a:rPr sz="1400" b="0" i="0">
                <a:solidFill>
                  <a:srgbClr val="5B6B7F"/>
                </a:solidFill>
                <a:latin typeface="Courier New"/>
              </a:rPr>
              <a:t>   a</a:t>
            </a:r>
          </a:p>
        </p:txBody>
      </p:sp>
      <p:pic>
        <p:nvPicPr>
          <p:cNvPr id="5" name="Picture 4" descr="mini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275" y="2344043"/>
            <a:ext cx="1875169" cy="52399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297679" y="137160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59" y="14630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1"/>
                </a:solidFill>
                <a:latin typeface="Calibri"/>
              </a:rPr>
              <a:t>União r | s</a:t>
            </a:r>
            <a:r>
              <a:rPr sz="1400" b="0" i="0">
                <a:solidFill>
                  <a:srgbClr val="5B6B7F"/>
                </a:solidFill>
                <a:latin typeface="Courier New"/>
              </a:rPr>
              <a:t>   a|b</a:t>
            </a:r>
          </a:p>
        </p:txBody>
      </p:sp>
      <p:pic>
        <p:nvPicPr>
          <p:cNvPr id="8" name="Picture 7" descr="mini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113354"/>
            <a:ext cx="3246120" cy="98537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46719" y="137160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9" y="14630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1"/>
                </a:solidFill>
                <a:latin typeface="Calibri"/>
              </a:rPr>
              <a:t>Concatenação rs</a:t>
            </a:r>
            <a:r>
              <a:rPr sz="1400" b="0" i="0">
                <a:solidFill>
                  <a:srgbClr val="5B6B7F"/>
                </a:solidFill>
                <a:latin typeface="Courier New"/>
              </a:rPr>
              <a:t>   ab</a:t>
            </a:r>
          </a:p>
        </p:txBody>
      </p:sp>
      <p:pic>
        <p:nvPicPr>
          <p:cNvPr id="11" name="Picture 10" descr="mini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6617" y="2344043"/>
            <a:ext cx="2560644" cy="52399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48640" y="356616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1"/>
                </a:solidFill>
                <a:latin typeface="Calibri"/>
              </a:rPr>
              <a:t>Fecho de Kleene r*</a:t>
            </a:r>
            <a:r>
              <a:rPr sz="1400" b="0" i="0">
                <a:solidFill>
                  <a:srgbClr val="5B6B7F"/>
                </a:solidFill>
                <a:latin typeface="Courier New"/>
              </a:rPr>
              <a:t>   a*</a:t>
            </a:r>
          </a:p>
        </p:txBody>
      </p:sp>
      <p:pic>
        <p:nvPicPr>
          <p:cNvPr id="14" name="Picture 13" descr="mini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443032"/>
            <a:ext cx="3246120" cy="715135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297679" y="356616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36576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1"/>
                </a:solidFill>
                <a:latin typeface="Calibri"/>
              </a:rPr>
              <a:t>Opcional r? = (r | ε)</a:t>
            </a:r>
            <a:r>
              <a:rPr sz="1400" b="0" i="0">
                <a:solidFill>
                  <a:srgbClr val="5B6B7F"/>
                </a:solidFill>
                <a:latin typeface="Courier New"/>
              </a:rPr>
              <a:t>   a?</a:t>
            </a:r>
          </a:p>
        </p:txBody>
      </p:sp>
      <p:pic>
        <p:nvPicPr>
          <p:cNvPr id="17" name="Picture 16" descr="mini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315" y="4538603"/>
            <a:ext cx="1875169" cy="523992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046719" y="356616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9" y="36576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1"/>
                </a:solidFill>
                <a:latin typeface="Calibri"/>
              </a:rPr>
              <a:t>Repetição r{3} = rrr</a:t>
            </a:r>
            <a:r>
              <a:rPr sz="1400" b="0" i="0">
                <a:solidFill>
                  <a:srgbClr val="5B6B7F"/>
                </a:solidFill>
                <a:latin typeface="Courier New"/>
              </a:rPr>
              <a:t>   a{3}</a:t>
            </a:r>
          </a:p>
        </p:txBody>
      </p:sp>
      <p:pic>
        <p:nvPicPr>
          <p:cNvPr id="20" name="Picture 19" descr="mini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3879" y="4538603"/>
            <a:ext cx="3246120" cy="52399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6B7F"/>
                </a:solidFill>
                <a:latin typeface="Calibri"/>
              </a:rPr>
              <a:t>Setas tracejadas = movimentos ε.  </a:t>
            </a:r>
            <a:r>
              <a:rPr sz="1400" b="0" i="0">
                <a:solidFill>
                  <a:srgbClr val="5B6B7F"/>
                </a:solidFill>
                <a:latin typeface="Calibri"/>
              </a:rPr>
              <a:t>Simplificações que preservam a linguagem: a concatenação funde o final de r com o início de s, e r? usa um único ε para pular 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B6B7F"/>
                </a:solidFill>
                <a:latin typeface="Calibri"/>
              </a:rPr>
              <a:t>ER-01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B2A41"/>
                </a:solidFill>
                <a:latin typeface="Cambria"/>
              </a:rPr>
              <a:t>CNPJ do cliente (alfanumérico ou numérico)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4297680" cy="484632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6B7F"/>
                </a:solidFill>
                <a:latin typeface="Calibri"/>
              </a:rPr>
              <a:t>ALFABETO (Σ)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39319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Calibri"/>
              </a:rPr>
              <a:t>D = {0, 1, 2, 3, 4, 5, 6, 7, 8, 9} (dígitos)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Calibri"/>
              </a:rPr>
              <a:t>M = {A, B, C, …, Z} (26 letras maiúsculas, sem acento)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Calibri"/>
              </a:rPr>
              <a:t>A = M ∪ D (símbolos permitidos na raiz e na ordem do CNPJ)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Calibri"/>
              </a:rPr>
              <a:t>Σ = M ∪ D ∪ {'.', '/', '-'}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11880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6B7F"/>
                </a:solidFill>
                <a:latin typeface="Calibri"/>
              </a:rPr>
              <a:t>LINGUAGEM 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31920"/>
            <a:ext cx="393192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F2933"/>
                </a:solidFill>
                <a:latin typeface="Calibri"/>
              </a:rPr>
              <a:t>Cadeias com 14 caracteres significativos: os 12 primeiros pertencem a A (letras maiúsculas ou dígitos) e os 2 últimos, os dígitos verificadores, pertencem a D. A cadeia é escrita sem máscara (14 símbolos seguidos) ou com a máscara completa AA.AAA.AAA/AAAA-DD; máscaras parciais não pertencem a 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4173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6B7F"/>
                </a:solidFill>
                <a:latin typeface="Calibri"/>
              </a:rPr>
              <a:t>ER FORMAL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691640"/>
            <a:ext cx="6492240" cy="868680"/>
          </a:xfrm>
          <a:prstGeom prst="roundRect">
            <a:avLst>
              <a:gd name="adj" fmla="val 8000"/>
            </a:avLst>
          </a:prstGeom>
          <a:solidFill>
            <a:srgbClr val="E6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1691640"/>
            <a:ext cx="62179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3"/>
                </a:solidFill>
                <a:latin typeface="Cambria Math"/>
              </a:rPr>
              <a:t>A{2} '.' A{3} '.' A{3} '/' A{4} '-' D{2}  |  A{12} D{2}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6517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6B7F"/>
                </a:solidFill>
                <a:latin typeface="Calibri"/>
              </a:rPr>
              <a:t>SINTAXE NO CÓDIGO (PYTHON)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2926080"/>
            <a:ext cx="6492240" cy="731520"/>
          </a:xfrm>
          <a:prstGeom prst="roundRect">
            <a:avLst>
              <a:gd name="adj" fmla="val 8000"/>
            </a:avLst>
          </a:prstGeom>
          <a:solidFill>
            <a:srgbClr val="0F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2926080"/>
            <a:ext cx="6263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3F0FF"/>
                </a:solidFill>
                <a:latin typeface="Courier New"/>
              </a:rPr>
              <a:t>re.fullmatch(r"[A-Z0-9]{2}\.[A-Z0-9]{3}\.[A-Z0-9]{3}/[A-Z0-9]{4}-[0-9]{2}|[A-Z0-9]{12}[0-9]{2}", cadeia)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7947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6B7F"/>
                </a:solidFill>
                <a:latin typeface="Calibri"/>
              </a:rPr>
              <a:t>EQUIVALÊNCIA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4114800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2A41"/>
                </a:solidFill>
                <a:latin typeface="Courier New"/>
              </a:rPr>
              <a:t>[A-Z0-9]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4114800"/>
            <a:ext cx="4343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Classe finita: A = M ∪ D = (A | B | … | Z | 0 | 1 | … | 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480560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2A41"/>
                </a:solidFill>
                <a:latin typeface="Courier New"/>
              </a:rPr>
              <a:t>[0-9]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480560"/>
            <a:ext cx="4343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Intervalo finito: D = (0 | 1 | … | 9)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4846320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2A41"/>
                </a:solidFill>
                <a:latin typeface="Courier New"/>
              </a:rPr>
              <a:t>{2}, {3}, {4}, {12}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4846320"/>
            <a:ext cx="4343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Repetição exata: r{m} = r r … r (m cópias concatenadas)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5212080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2A41"/>
                </a:solidFill>
                <a:latin typeface="Courier New"/>
              </a:rPr>
              <a:t>\.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5212080"/>
            <a:ext cx="4343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Ponto literal '.' (o escape remove o significado de "qualquer caractere")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5577840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2A41"/>
                </a:solidFill>
                <a:latin typeface="Courier New"/>
              </a:rPr>
              <a:t>/  e  -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5577840"/>
            <a:ext cx="4343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Símbolos literais '/' e '-' (fora de classes não são operadores)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5943600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2A41"/>
                </a:solidFill>
                <a:latin typeface="Courier New"/>
              </a:rPr>
              <a:t>|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943600"/>
            <a:ext cx="4343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União das duas formas: com máscara | sem máscara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B6B7F"/>
                </a:solidFill>
                <a:latin typeface="Calibri"/>
              </a:rPr>
              <a:t>ER-01 · CNPJ do cliente (alfanumérico ou numérico)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B2A41"/>
                </a:solidFill>
                <a:latin typeface="Cambria"/>
              </a:rPr>
              <a:t>AFNε e testes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B7F"/>
                </a:solidFill>
                <a:latin typeface="Calibri"/>
              </a:rPr>
              <a:t>36 estados · 36 transições · 4 movimentos ε · inicial q0 · final q32 (círculo duplo)</a:t>
            </a:r>
          </a:p>
        </p:txBody>
      </p:sp>
      <p:pic>
        <p:nvPicPr>
          <p:cNvPr id="5" name="Picture 4" descr="cnpj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8083495" cy="890674"/>
          </a:xfrm>
          <a:prstGeom prst="rect">
            <a:avLst/>
          </a:prstGeom>
        </p:spPr>
      </p:pic>
      <p:pic>
        <p:nvPicPr>
          <p:cNvPr id="6" name="Picture 5" descr="cnpj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57500"/>
            <a:ext cx="11064240" cy="8906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251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7B45"/>
                </a:solidFill>
                <a:latin typeface="Calibri"/>
              </a:rPr>
              <a:t>ACEITAS (8)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4251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42318"/>
                </a:solidFill>
                <a:latin typeface="Calibri"/>
              </a:rPr>
              <a:t>REJEITADAS (8)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572000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E3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572000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7B45"/>
                </a:solidFill>
                <a:latin typeface="Calibri"/>
              </a:rPr>
              <a:t>✓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12.ABC.345/01DE-35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4572000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E3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4572000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7B45"/>
                </a:solidFill>
                <a:latin typeface="Calibri"/>
              </a:rPr>
              <a:t>✓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12ABC34501DE35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965192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E3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965192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7B45"/>
                </a:solidFill>
                <a:latin typeface="Calibri"/>
              </a:rPr>
              <a:t>✓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11.222.333/0001-81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4965192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E3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4965192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7B45"/>
                </a:solidFill>
                <a:latin typeface="Calibri"/>
              </a:rPr>
              <a:t>✓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11222333000181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58384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E3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358384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7B45"/>
                </a:solidFill>
                <a:latin typeface="Calibri"/>
              </a:rPr>
              <a:t>✓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A1.B2C.3D4/E5F6-07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5358384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E3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5358384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7B45"/>
                </a:solidFill>
                <a:latin typeface="Calibri"/>
              </a:rPr>
              <a:t>✓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AB.CDE.FGH/IJKL-12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751576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E3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751576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7B45"/>
                </a:solidFill>
                <a:latin typeface="Calibri"/>
              </a:rPr>
              <a:t>✓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ZZZZZZZZZZZZ99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5751576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E3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0" y="5751576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7B45"/>
                </a:solidFill>
                <a:latin typeface="Calibri"/>
              </a:rPr>
              <a:t>✓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00.000.000/0000-00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572000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4572000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ε (vazia)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15400" y="4572000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6840" y="4572000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12.abc.345/01de-35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4965192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4965192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12.ABC.345/01DE-3A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400" y="4965192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6840" y="4965192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12ABC345/01DE-35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5358384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5358384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12.ABC.345/01DE35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15400" y="5358384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6840" y="5358384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12ABC34501DE3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72200" y="5751576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640" y="5751576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12ABC34501DE356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15400" y="5751576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06840" y="5751576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␣11222333000181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7F"/>
                </a:solidFill>
                <a:latin typeface="Calibri"/>
              </a:rPr>
              <a:t>16/16 corretos em re.fullmatch e no AFNε · 4 casos-limite · lista completa com descrições em docs/EXPRESSOES.md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B6B7F"/>
                </a:solidFill>
                <a:latin typeface="Calibri"/>
              </a:rPr>
              <a:t>ER-02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B2A41"/>
                </a:solidFill>
                <a:latin typeface="Cambria"/>
              </a:rPr>
              <a:t>Placa do veículo (padrão antigo ou Mercosul)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4297680" cy="484632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6B7F"/>
                </a:solidFill>
                <a:latin typeface="Calibri"/>
              </a:rPr>
              <a:t>ALFABETO (Σ)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39319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Calibri"/>
              </a:rPr>
              <a:t>D = {0, 1, 2, 3, 4, 5, 6, 7, 8, 9} (dígitos)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Calibri"/>
              </a:rPr>
              <a:t>M = {A, B, C, …, Z} (26 letras maiúsculas, sem acento)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Calibri"/>
              </a:rPr>
              <a:t>Σ = M ∪ D ∪ {'-'}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11880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6B7F"/>
                </a:solidFill>
                <a:latin typeface="Calibri"/>
              </a:rPr>
              <a:t>LINGUAGEM 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31920"/>
            <a:ext cx="393192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F2933"/>
                </a:solidFill>
                <a:latin typeface="Calibri"/>
              </a:rPr>
              <a:t>Três letras maiúsculas seguidas de: (a) quatro dígitos, com ou sem um hífen entre as letras e os dígitos (padrão antigo); ou (b) dígito, letra e dois dígitos, sem hífen (padrão Mercosul).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4173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6B7F"/>
                </a:solidFill>
                <a:latin typeface="Calibri"/>
              </a:rPr>
              <a:t>ER FORMAL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691640"/>
            <a:ext cx="6492240" cy="868680"/>
          </a:xfrm>
          <a:prstGeom prst="roundRect">
            <a:avLst>
              <a:gd name="adj" fmla="val 8000"/>
            </a:avLst>
          </a:prstGeom>
          <a:solidFill>
            <a:srgbClr val="E6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1691640"/>
            <a:ext cx="62179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3"/>
                </a:solidFill>
                <a:latin typeface="Cambria Math"/>
              </a:rPr>
              <a:t>M{3} ( ('-' | ε) D{4}  |  D M D{2} 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6517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6B7F"/>
                </a:solidFill>
                <a:latin typeface="Calibri"/>
              </a:rPr>
              <a:t>SINTAXE NO CÓDIGO (PYTHON)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2926080"/>
            <a:ext cx="6492240" cy="731520"/>
          </a:xfrm>
          <a:prstGeom prst="roundRect">
            <a:avLst>
              <a:gd name="adj" fmla="val 8000"/>
            </a:avLst>
          </a:prstGeom>
          <a:solidFill>
            <a:srgbClr val="0F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2926080"/>
            <a:ext cx="6263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3F0FF"/>
                </a:solidFill>
                <a:latin typeface="Courier New"/>
              </a:rPr>
              <a:t>re.fullmatch(r"[A-Z]{3}(-?[0-9]{4}|[0-9][A-Z][0-9]{2})", cadeia)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7947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6B7F"/>
                </a:solidFill>
                <a:latin typeface="Calibri"/>
              </a:rPr>
              <a:t>EQUIVALÊNCIA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4114800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2A41"/>
                </a:solidFill>
                <a:latin typeface="Courier New"/>
              </a:rPr>
              <a:t>[A-Z]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4114800"/>
            <a:ext cx="4343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Intervalo finito: M = (A | B | … | Z)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480560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2A41"/>
                </a:solidFill>
                <a:latin typeface="Courier New"/>
              </a:rPr>
              <a:t>[0-9]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480560"/>
            <a:ext cx="4343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Intervalo finito: D = (0 | 1 | … | 9)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4846320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2A41"/>
                </a:solidFill>
                <a:latin typeface="Courier New"/>
              </a:rPr>
              <a:t>{3}, {4}, {2}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4846320"/>
            <a:ext cx="4343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Repetição exata (concatenação de cópias)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5212080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2A41"/>
                </a:solidFill>
                <a:latin typeface="Courier New"/>
              </a:rPr>
              <a:t>-?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5212080"/>
            <a:ext cx="4343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Opcionalidade: ('-' | ε)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5577840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2A41"/>
                </a:solidFill>
                <a:latin typeface="Courier New"/>
              </a:rPr>
              <a:t>( … | … 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5577840"/>
            <a:ext cx="4343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Agrupamento da união entre padrão antigo e padrão Mercosul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B6B7F"/>
                </a:solidFill>
                <a:latin typeface="Calibri"/>
              </a:rPr>
              <a:t>ER-02 · Placa do veículo (padrão antigo ou Mercosul)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B2A41"/>
                </a:solidFill>
                <a:latin typeface="Cambria"/>
              </a:rPr>
              <a:t>AFNε e testes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B7F"/>
                </a:solidFill>
                <a:latin typeface="Calibri"/>
              </a:rPr>
              <a:t>16 estados · 17 transições · 5 movimentos ε · inicial q0 · final q15 (círculo duplo)</a:t>
            </a:r>
          </a:p>
        </p:txBody>
      </p:sp>
      <p:pic>
        <p:nvPicPr>
          <p:cNvPr id="5" name="Picture 4" descr="er-02-pla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73059"/>
            <a:ext cx="11064240" cy="11231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251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7B45"/>
                </a:solidFill>
                <a:latin typeface="Calibri"/>
              </a:rPr>
              <a:t>ACEITAS (8)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4251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42318"/>
                </a:solidFill>
                <a:latin typeface="Calibri"/>
              </a:rPr>
              <a:t>REJEITADAS (8)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572000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E3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7B45"/>
                </a:solidFill>
                <a:latin typeface="Calibri"/>
              </a:rPr>
              <a:t>✓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ABC-1234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4572000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E3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4572000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7B45"/>
                </a:solidFill>
                <a:latin typeface="Calibri"/>
              </a:rPr>
              <a:t>✓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ABC1234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965192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E3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965192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7B45"/>
                </a:solidFill>
                <a:latin typeface="Calibri"/>
              </a:rPr>
              <a:t>✓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BRA2E19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4965192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E3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4965192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7B45"/>
                </a:solidFill>
                <a:latin typeface="Calibri"/>
              </a:rPr>
              <a:t>✓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RIO2A18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58384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E3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358384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7B45"/>
                </a:solidFill>
                <a:latin typeface="Calibri"/>
              </a:rPr>
              <a:t>✓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QWE0Z00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5358384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E3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5358384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7B45"/>
                </a:solidFill>
                <a:latin typeface="Calibri"/>
              </a:rPr>
              <a:t>✓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MNO-5678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751576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E3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751576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7B45"/>
                </a:solidFill>
                <a:latin typeface="Calibri"/>
              </a:rPr>
              <a:t>✓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AAA-0000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40" y="5751576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E3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5751576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7B45"/>
                </a:solidFill>
                <a:latin typeface="Calibri"/>
              </a:rPr>
              <a:t>✓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ZZZ9Z99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572000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4572000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ε (vazia)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15400" y="4572000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4572000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abc1d23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965192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4965192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ABC-1D23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15400" y="4965192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6840" y="4965192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AB-1234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5358384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5358384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ABC12345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15400" y="5358384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5358384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ABC␣1234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5751576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5751576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ABC1DE3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15400" y="5751576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06840" y="5751576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ABC-123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7F"/>
                </a:solidFill>
                <a:latin typeface="Calibri"/>
              </a:rPr>
              <a:t>16/16 corretos em re.fullmatch e no AFNε · 4 casos-limite · lista completa com descrições em docs/EXPRESSOES.md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B6B7F"/>
                </a:solidFill>
                <a:latin typeface="Calibri"/>
              </a:rPr>
              <a:t>ER-03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B2A41"/>
                </a:solidFill>
                <a:latin typeface="Cambria"/>
              </a:rPr>
              <a:t>Telefone do motorista (fixo ou celular, com DDD válido)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4297680" cy="484632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6B7F"/>
                </a:solidFill>
                <a:latin typeface="Calibri"/>
              </a:rPr>
              <a:t>ALFABETO (Σ)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39319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F2933"/>
                </a:solidFill>
                <a:latin typeface="Calibri"/>
              </a:rPr>
              <a:t>D = {0, 1, 2, 3, 4, 5, 6, 7, 8, 9} (dígitos)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F2933"/>
                </a:solidFill>
                <a:latin typeface="Calibri"/>
              </a:rPr>
              <a:t>P = D − {0} = {1, 2, …, 9} (dígitos sem o zero)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F2933"/>
                </a:solidFill>
                <a:latin typeface="Calibri"/>
              </a:rPr>
              <a:t>F = {2, 3, 4, 5} (primeiro dígito de telefone fixo)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F2933"/>
                </a:solidFill>
                <a:latin typeface="Calibri"/>
              </a:rPr>
              <a:t>K = 1P | 2(1|2|4|7|8) | 3(1|2|3|4|5|7|8) | 4P | 5(1|3|4|5) | 6P | 7(1|3|4|5|7|9) | 8P | 9P  (os 67 DDDs em uso)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F2933"/>
                </a:solidFill>
                <a:latin typeface="Calibri"/>
              </a:rPr>
              <a:t>Σ = D ∪ {'+', '(', ')', '-', ␣}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11880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6B7F"/>
                </a:solidFill>
                <a:latin typeface="Calibri"/>
              </a:rPr>
              <a:t>LINGUAGEM 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31920"/>
            <a:ext cx="393192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F2933"/>
                </a:solidFill>
                <a:latin typeface="Calibri"/>
              </a:rPr>
              <a:t>Números de telefone formados por: prefixo internacional +55 opcional (seguido ou não de espaço); DDD pertencente a K, entre parênteses ou sem eles; espaço opcional; número de celular (9 seguido de 8 dígitos) ou fixo (dígito de 2 a 5 seguido de 7 dígitos), com hífen opcional antes dos 4 últimos dígitos.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4173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6B7F"/>
                </a:solidFill>
                <a:latin typeface="Calibri"/>
              </a:rPr>
              <a:t>ER FORMAL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691640"/>
            <a:ext cx="6492240" cy="868680"/>
          </a:xfrm>
          <a:prstGeom prst="roundRect">
            <a:avLst>
              <a:gd name="adj" fmla="val 8000"/>
            </a:avLst>
          </a:prstGeom>
          <a:solidFill>
            <a:srgbClr val="E6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1691640"/>
            <a:ext cx="62179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3"/>
                </a:solidFill>
                <a:latin typeface="Cambria Math"/>
              </a:rPr>
              <a:t>( '+' 55 (␣ | ε) | ε ) ( '(' K ')' | K ) (␣ | ε) ( 9 D{4} | F D{3} ) ('-' | ε) D{4}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6517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6B7F"/>
                </a:solidFill>
                <a:latin typeface="Calibri"/>
              </a:rPr>
              <a:t>SINTAXE NO CÓDIGO (PYTHON)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2926080"/>
            <a:ext cx="6492240" cy="1188720"/>
          </a:xfrm>
          <a:prstGeom prst="roundRect">
            <a:avLst>
              <a:gd name="adj" fmla="val 8000"/>
            </a:avLst>
          </a:prstGeom>
          <a:solidFill>
            <a:srgbClr val="0F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2926080"/>
            <a:ext cx="62636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E3F0FF"/>
                </a:solidFill>
                <a:latin typeface="Courier New"/>
              </a:rPr>
              <a:t>re.fullmatch(r"(\+55 ?)?(\((1[1-9]|2[12478]|3[1-578]|4[1-9]|5[1345]|6[1-9]|7[134579]|8[1-9]|9[1-9])\)|(1[1-9]|2[12478]|3[1-578]|4[1-9]|5[1345]|6[1-9]|7[134579]|8[1-9]|9[1-9])) ?(9[0-9]{4}|[2-5][0-9]{3})-?[0-9]{4}", cadeia)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42519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6B7F"/>
                </a:solidFill>
                <a:latin typeface="Calibri"/>
              </a:rPr>
              <a:t>EQUIVALÊNCIA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4572000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2A41"/>
                </a:solidFill>
                <a:latin typeface="Courier New"/>
              </a:rPr>
              <a:t>\+  \(  \)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4572000"/>
            <a:ext cx="4343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Símbolos literais '+', '(' e ')' (escapados porque são operadores)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937760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2A41"/>
                </a:solidFill>
                <a:latin typeface="Courier New"/>
              </a:rPr>
              <a:t>(\+55 ?)?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937760"/>
            <a:ext cx="4343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Opcionalidade aninhada: ('+' 5 5 (␣ | ε) | ε)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5303520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2A41"/>
                </a:solidFill>
                <a:latin typeface="Courier New"/>
              </a:rPr>
              <a:t>[1-9]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5303520"/>
            <a:ext cx="4343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Intervalo: P = (1 | 2 | … | 9)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5669280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2A41"/>
                </a:solidFill>
                <a:latin typeface="Courier New"/>
              </a:rPr>
              <a:t>[12478], [1-578], [1345], [134579]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5669280"/>
            <a:ext cx="4343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Classes finitas: (1|2|4|7|8), (1|2|3|4|5|7|8), 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B6B7F"/>
                </a:solidFill>
                <a:latin typeface="Calibri"/>
              </a:rPr>
              <a:t>ER-03 · Telefone do motorista (fixo ou celular, com DDD válido)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B2A41"/>
                </a:solidFill>
                <a:latin typeface="Cambria"/>
              </a:rPr>
              <a:t>AFNε correspondente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B7F"/>
                </a:solidFill>
                <a:latin typeface="Calibri"/>
              </a:rPr>
              <a:t>84 estados · 105 transições · 48 movimentos ε · inicial q0 · final q83 (círculo duplo)</a:t>
            </a:r>
          </a:p>
        </p:txBody>
      </p:sp>
      <p:pic>
        <p:nvPicPr>
          <p:cNvPr id="5" name="Picture 4" descr="er-03-telef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869" y="1600200"/>
            <a:ext cx="10917780" cy="4937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2103120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2651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1"/>
                </a:solidFill>
                <a:latin typeface="Calibri"/>
              </a:rPr>
              <a:t>'(' K ')'  DDD com parênteses  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806440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806440"/>
            <a:ext cx="2651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1"/>
                </a:solidFill>
                <a:latin typeface="Calibri"/>
              </a:rPr>
              <a:t>↑ '+' 55 (␣ | ε)  opcional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6035040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6035040"/>
            <a:ext cx="2651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1"/>
                </a:solidFill>
                <a:latin typeface="Calibri"/>
              </a:rPr>
              <a:t>← K  DDD sem parênteses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3566160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3566160"/>
            <a:ext cx="2651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1"/>
                </a:solidFill>
                <a:latin typeface="Calibri"/>
              </a:rPr>
              <a:t>↓ celular 9D{4} | fixo FD{3}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B6B7F"/>
                </a:solidFill>
                <a:latin typeface="Calibri"/>
              </a:rPr>
              <a:t>ER-03 · Telefone do motorista (fixo ou celular, com DDD válido)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B2A41"/>
                </a:solidFill>
                <a:latin typeface="Cambria"/>
              </a:rPr>
              <a:t>Testes e o porquê de o DDD aparecer duas vezes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B2A41"/>
                </a:solidFill>
                <a:latin typeface="Calibri"/>
              </a:rPr>
              <a:t>Parênteses balanceados: 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a ER é  '(' K ')' | K  — e não  '('? K ')'? , que aceitaria  (11 91234-5678.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</a:rPr>
              <a:t>Uma ER não tem memória para lembrar que abriu um parêntese; por isso a subexpressão K dos 67 DDDs é repetida, e o AFNε tem dois blocos de DDD.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7B45"/>
                </a:solidFill>
                <a:latin typeface="Calibri"/>
              </a:rPr>
              <a:t>ACEITAS (8)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32004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42318"/>
                </a:solidFill>
                <a:latin typeface="Calibri"/>
              </a:rPr>
              <a:t>REJEITADAS (8)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566160"/>
            <a:ext cx="2651760" cy="457200"/>
          </a:xfrm>
          <a:prstGeom prst="roundRect">
            <a:avLst>
              <a:gd name="adj" fmla="val 30000"/>
            </a:avLst>
          </a:prstGeom>
          <a:solidFill>
            <a:srgbClr val="E3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7B45"/>
                </a:solidFill>
                <a:latin typeface="Calibri"/>
              </a:rPr>
              <a:t>✓ </a:t>
            </a:r>
            <a:r>
              <a:rPr sz="1200" b="0" i="0">
                <a:solidFill>
                  <a:srgbClr val="1F2933"/>
                </a:solidFill>
                <a:latin typeface="Courier New"/>
              </a:rPr>
              <a:t>+55␣(11)␣91234-5678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3566160"/>
            <a:ext cx="2651760" cy="457200"/>
          </a:xfrm>
          <a:prstGeom prst="roundRect">
            <a:avLst>
              <a:gd name="adj" fmla="val 30000"/>
            </a:avLst>
          </a:prstGeom>
          <a:solidFill>
            <a:srgbClr val="E3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3566160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7B45"/>
                </a:solidFill>
                <a:latin typeface="Calibri"/>
              </a:rPr>
              <a:t>✓ </a:t>
            </a:r>
            <a:r>
              <a:rPr sz="1200" b="0" i="0">
                <a:solidFill>
                  <a:srgbClr val="1F2933"/>
                </a:solidFill>
                <a:latin typeface="Courier New"/>
              </a:rPr>
              <a:t>(21)␣3456-7890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33087"/>
            <a:ext cx="2651760" cy="457200"/>
          </a:xfrm>
          <a:prstGeom prst="roundRect">
            <a:avLst>
              <a:gd name="adj" fmla="val 30000"/>
            </a:avLst>
          </a:prstGeom>
          <a:solidFill>
            <a:srgbClr val="E3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133087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7B45"/>
                </a:solidFill>
                <a:latin typeface="Calibri"/>
              </a:rPr>
              <a:t>✓ </a:t>
            </a:r>
            <a:r>
              <a:rPr sz="1200" b="0" i="0">
                <a:solidFill>
                  <a:srgbClr val="1F2933"/>
                </a:solidFill>
                <a:latin typeface="Courier New"/>
              </a:rPr>
              <a:t>11912345678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4133087"/>
            <a:ext cx="2651760" cy="457200"/>
          </a:xfrm>
          <a:prstGeom prst="roundRect">
            <a:avLst>
              <a:gd name="adj" fmla="val 30000"/>
            </a:avLst>
          </a:prstGeom>
          <a:solidFill>
            <a:srgbClr val="E3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4133087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7B45"/>
                </a:solidFill>
                <a:latin typeface="Calibri"/>
              </a:rPr>
              <a:t>✓ </a:t>
            </a:r>
            <a:r>
              <a:rPr sz="1200" b="0" i="0">
                <a:solidFill>
                  <a:srgbClr val="1F2933"/>
                </a:solidFill>
                <a:latin typeface="Courier New"/>
              </a:rPr>
              <a:t>+5561987654321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00016"/>
            <a:ext cx="2651760" cy="457200"/>
          </a:xfrm>
          <a:prstGeom prst="roundRect">
            <a:avLst>
              <a:gd name="adj" fmla="val 30000"/>
            </a:avLst>
          </a:prstGeom>
          <a:solidFill>
            <a:srgbClr val="E3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700016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7B45"/>
                </a:solidFill>
                <a:latin typeface="Calibri"/>
              </a:rPr>
              <a:t>✓ </a:t>
            </a:r>
            <a:r>
              <a:rPr sz="1200" b="0" i="0">
                <a:solidFill>
                  <a:srgbClr val="1F2933"/>
                </a:solidFill>
                <a:latin typeface="Courier New"/>
              </a:rPr>
              <a:t>(47)98888-0000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4700016"/>
            <a:ext cx="2651760" cy="457200"/>
          </a:xfrm>
          <a:prstGeom prst="roundRect">
            <a:avLst>
              <a:gd name="adj" fmla="val 30000"/>
            </a:avLst>
          </a:prstGeom>
          <a:solidFill>
            <a:srgbClr val="E3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4700016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7B45"/>
                </a:solidFill>
                <a:latin typeface="Calibri"/>
              </a:rPr>
              <a:t>✓ </a:t>
            </a:r>
            <a:r>
              <a:rPr sz="1200" b="0" i="0">
                <a:solidFill>
                  <a:srgbClr val="1F2933"/>
                </a:solidFill>
                <a:latin typeface="Courier New"/>
              </a:rPr>
              <a:t>85␣3222-1100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266944"/>
            <a:ext cx="2651760" cy="457200"/>
          </a:xfrm>
          <a:prstGeom prst="roundRect">
            <a:avLst>
              <a:gd name="adj" fmla="val 30000"/>
            </a:avLst>
          </a:prstGeom>
          <a:solidFill>
            <a:srgbClr val="E3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266944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7B45"/>
                </a:solidFill>
                <a:latin typeface="Calibri"/>
              </a:rPr>
              <a:t>✓ </a:t>
            </a:r>
            <a:r>
              <a:rPr sz="1200" b="0" i="0">
                <a:solidFill>
                  <a:srgbClr val="1F2933"/>
                </a:solidFill>
                <a:latin typeface="Courier New"/>
              </a:rPr>
              <a:t>+55␣31␣2345-6789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40" y="5266944"/>
            <a:ext cx="2651760" cy="457200"/>
          </a:xfrm>
          <a:prstGeom prst="roundRect">
            <a:avLst>
              <a:gd name="adj" fmla="val 30000"/>
            </a:avLst>
          </a:prstGeom>
          <a:solidFill>
            <a:srgbClr val="E3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5266944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7B45"/>
                </a:solidFill>
                <a:latin typeface="Calibri"/>
              </a:rPr>
              <a:t>✓ </a:t>
            </a:r>
            <a:r>
              <a:rPr sz="1200" b="0" i="0">
                <a:solidFill>
                  <a:srgbClr val="1F2933"/>
                </a:solidFill>
                <a:latin typeface="Courier New"/>
              </a:rPr>
              <a:t>(99)␣90000-0000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566160"/>
            <a:ext cx="2651760" cy="457200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3566160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200" b="0" i="0">
                <a:solidFill>
                  <a:srgbClr val="1F2933"/>
                </a:solidFill>
                <a:latin typeface="Courier New"/>
              </a:rPr>
              <a:t>ε (vazia)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15400" y="3566160"/>
            <a:ext cx="2651760" cy="457200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3566160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200" b="0" i="0">
                <a:solidFill>
                  <a:srgbClr val="1F2933"/>
                </a:solidFill>
                <a:latin typeface="Courier New"/>
              </a:rPr>
              <a:t>(11␣91234-5678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133087"/>
            <a:ext cx="2651760" cy="457200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4133087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200" b="0" i="0">
                <a:solidFill>
                  <a:srgbClr val="1F2933"/>
                </a:solidFill>
                <a:latin typeface="Courier New"/>
              </a:rPr>
              <a:t>(23)␣91234-5678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15400" y="4133087"/>
            <a:ext cx="2651760" cy="457200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6840" y="4133087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200" b="0" i="0">
                <a:solidFill>
                  <a:srgbClr val="1F2933"/>
                </a:solidFill>
                <a:latin typeface="Courier New"/>
              </a:rPr>
              <a:t>11␣81234-5678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4700016"/>
            <a:ext cx="2651760" cy="457200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4700016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200" b="0" i="0">
                <a:solidFill>
                  <a:srgbClr val="1F2933"/>
                </a:solidFill>
                <a:latin typeface="Courier New"/>
              </a:rPr>
              <a:t>11␣6123-4567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15400" y="4700016"/>
            <a:ext cx="2651760" cy="457200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4700016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200" b="0" i="0">
                <a:solidFill>
                  <a:srgbClr val="1F2933"/>
                </a:solidFill>
                <a:latin typeface="Courier New"/>
              </a:rPr>
              <a:t>+55␣␣11␣91234-5678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5266944"/>
            <a:ext cx="2651760" cy="457200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5266944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200" b="0" i="0">
                <a:solidFill>
                  <a:srgbClr val="1F2933"/>
                </a:solidFill>
                <a:latin typeface="Courier New"/>
              </a:rPr>
              <a:t>11␣91234-567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15400" y="5266944"/>
            <a:ext cx="2651760" cy="457200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06840" y="5266944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200" b="0" i="0">
                <a:solidFill>
                  <a:srgbClr val="1F2933"/>
                </a:solidFill>
                <a:latin typeface="Courier New"/>
              </a:rPr>
              <a:t>+1␣(11)␣91234-5678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7F"/>
                </a:solidFill>
                <a:latin typeface="Calibri"/>
              </a:rPr>
              <a:t>16/16 corretos em re.fullmatch e no AFNε · 3 casos-limite · lista completa com descrições em docs/EXPRESSOES.md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B6B7F"/>
                </a:solidFill>
                <a:latin typeface="Calibri"/>
              </a:rPr>
              <a:t>ER-04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B2A41"/>
                </a:solidFill>
                <a:latin typeface="Cambria"/>
              </a:rPr>
              <a:t>Data da coleta (DD/MM/AAAA com dia compatível com o mês)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4297680" cy="484632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6B7F"/>
                </a:solidFill>
                <a:latin typeface="Calibri"/>
              </a:rPr>
              <a:t>ALFABETO (Σ)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39319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Calibri"/>
              </a:rPr>
              <a:t>D = {0, 1, 2, 3, 4, 5, 6, 7, 8, 9} (dígitos)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Calibri"/>
              </a:rPr>
              <a:t>P = D − {0} = {1, 2, …, 9} (dígitos sem o zero)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Calibri"/>
              </a:rPr>
              <a:t>Σ = D ∪ {'/'}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11880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6B7F"/>
                </a:solidFill>
                <a:latin typeface="Calibri"/>
              </a:rPr>
              <a:t>LINGUAGEM 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31920"/>
            <a:ext cx="393192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F2933"/>
                </a:solidFill>
                <a:latin typeface="Calibri"/>
              </a:rPr>
              <a:t>Datas DD/MM/AAAA com ano entre 1900 e 2099 em que: os dias 01 a 29 ocorrem em qualquer mês; o dia 30 ocorre em todos os meses exceto fevereiro; e o dia 31 ocorre apenas em janeiro, março, maio, julho, agosto, outubro e dezembro.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4173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6B7F"/>
                </a:solidFill>
                <a:latin typeface="Calibri"/>
              </a:rPr>
              <a:t>ER FORMAL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691640"/>
            <a:ext cx="6492240" cy="868680"/>
          </a:xfrm>
          <a:prstGeom prst="roundRect">
            <a:avLst>
              <a:gd name="adj" fmla="val 8000"/>
            </a:avLst>
          </a:prstGeom>
          <a:solidFill>
            <a:srgbClr val="E6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1691640"/>
            <a:ext cx="62179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3"/>
                </a:solidFill>
                <a:latin typeface="Cambria Math"/>
              </a:rPr>
              <a:t>( (0P | (1|2)D) '/' (0P | 1(0|1|2))  |  30 '/' (0(1|3|4|5|6|7|8|9) | 1(0|1|2))  |  31 '/' (0(1|3|5|7|8) | 1(0|2)) ) '/' (19 | 20) D{2}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6517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6B7F"/>
                </a:solidFill>
                <a:latin typeface="Calibri"/>
              </a:rPr>
              <a:t>SINTAXE NO CÓDIGO (PYTHON)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2926080"/>
            <a:ext cx="6492240" cy="731520"/>
          </a:xfrm>
          <a:prstGeom prst="roundRect">
            <a:avLst>
              <a:gd name="adj" fmla="val 8000"/>
            </a:avLst>
          </a:prstGeom>
          <a:solidFill>
            <a:srgbClr val="0F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2926080"/>
            <a:ext cx="6263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3F0FF"/>
                </a:solidFill>
                <a:latin typeface="Courier New"/>
              </a:rPr>
              <a:t>re.fullmatch(r"((0[1-9]|[12][0-9])/(0[1-9]|1[0-2])|30/(0[13-9]|1[0-2])|31/(0[13578]|1[02]))/(19|20)[0-9]{2}", cadeia)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7947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6B7F"/>
                </a:solidFill>
                <a:latin typeface="Calibri"/>
              </a:rPr>
              <a:t>EQUIVALÊNCIA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4114800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2A41"/>
                </a:solidFill>
                <a:latin typeface="Courier New"/>
              </a:rPr>
              <a:t>0[1-9]|[12][0-9]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4114800"/>
            <a:ext cx="4343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Dias 01–29: (0P | (1|2)D)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480560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2A41"/>
                </a:solidFill>
                <a:latin typeface="Courier New"/>
              </a:rPr>
              <a:t>0[1-9]|1[0-2]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480560"/>
            <a:ext cx="4343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Meses 01–12: (0P | 1(0|1|2))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4846320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2A41"/>
                </a:solidFill>
                <a:latin typeface="Courier New"/>
              </a:rPr>
              <a:t>[13-9]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4846320"/>
            <a:ext cx="4343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Classe com intervalo: (1 | 3 | 4 | 5 | 6 | 7 | 8 | 9), ou seja, sem o 2 (fevereiro)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5212080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2A41"/>
                </a:solidFill>
                <a:latin typeface="Courier New"/>
              </a:rPr>
              <a:t>[13578], [02]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5212080"/>
            <a:ext cx="4343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Classes finitas dos meses com 31 dias: (1|3|5|7|8) e (0|2)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5577840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2A41"/>
                </a:solidFill>
                <a:latin typeface="Courier New"/>
              </a:rPr>
              <a:t>19|20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5577840"/>
            <a:ext cx="4343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União das duas possibilidades de século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5943600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2A41"/>
                </a:solidFill>
                <a:latin typeface="Courier New"/>
              </a:rPr>
              <a:t>[0-9]{2}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943600"/>
            <a:ext cx="4343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Repetição exata: D 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B6B7F"/>
                </a:solidFill>
                <a:latin typeface="Calibri"/>
              </a:rPr>
              <a:t>ER-04 · Data da coleta (DD/MM/AAAA com dia compatível com o mês)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B2A41"/>
                </a:solidFill>
                <a:latin typeface="Cambria"/>
              </a:rPr>
              <a:t>AFNε e testes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B7F"/>
                </a:solidFill>
                <a:latin typeface="Calibri"/>
              </a:rPr>
              <a:t>50 estados · 56 transições · 26 movimentos ε · inicial q0 · final q49 (círculo duplo)</a:t>
            </a:r>
          </a:p>
        </p:txBody>
      </p:sp>
      <p:pic>
        <p:nvPicPr>
          <p:cNvPr id="5" name="Picture 4" descr="er-04-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71424"/>
            <a:ext cx="11064240" cy="23264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251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7B45"/>
                </a:solidFill>
                <a:latin typeface="Calibri"/>
              </a:rPr>
              <a:t>ACEITAS (8)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4251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42318"/>
                </a:solidFill>
                <a:latin typeface="Calibri"/>
              </a:rPr>
              <a:t>REJEITADAS (8)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572000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E3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7B45"/>
                </a:solidFill>
                <a:latin typeface="Calibri"/>
              </a:rPr>
              <a:t>✓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01/01/2000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4572000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E3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4572000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7B45"/>
                </a:solidFill>
                <a:latin typeface="Calibri"/>
              </a:rPr>
              <a:t>✓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15/08/2025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965192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E3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965192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7B45"/>
                </a:solidFill>
                <a:latin typeface="Calibri"/>
              </a:rPr>
              <a:t>✓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29/02/2024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4965192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E3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4965192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7B45"/>
                </a:solidFill>
                <a:latin typeface="Calibri"/>
              </a:rPr>
              <a:t>✓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30/04/2026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58384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E3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358384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7B45"/>
                </a:solidFill>
                <a:latin typeface="Calibri"/>
              </a:rPr>
              <a:t>✓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31/12/1999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5358384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E3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5358384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7B45"/>
                </a:solidFill>
                <a:latin typeface="Calibri"/>
              </a:rPr>
              <a:t>✓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31/01/1900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751576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E3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751576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7B45"/>
                </a:solidFill>
                <a:latin typeface="Calibri"/>
              </a:rPr>
              <a:t>✓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28/02/2099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40" y="5751576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E3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5751576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7B45"/>
                </a:solidFill>
                <a:latin typeface="Calibri"/>
              </a:rPr>
              <a:t>✓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29/02/2023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572000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4572000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ε (vazia)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15400" y="4572000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4572000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31/04/2025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965192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4965192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30/02/2024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15400" y="4965192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6840" y="4965192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00/10/2020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5358384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5358384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15/13/2020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15400" y="5358384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5358384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1/1/2020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5751576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5751576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15/08/2100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15400" y="5751576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06840" y="5751576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15-08-2020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7F"/>
                </a:solidFill>
                <a:latin typeface="Calibri"/>
              </a:rPr>
              <a:t>16/16 corretos em re.fullmatch e no AFNε · 5 casos-limite · lista completa com descrições em docs/EXPRESSOES.md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B6B7F"/>
                </a:solidFill>
                <a:latin typeface="Calibri"/>
              </a:rPr>
              <a:t>ER-05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B2A41"/>
                </a:solidFill>
                <a:latin typeface="Cambria"/>
              </a:rPr>
              <a:t>Valor do frete em reais (R$)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4297680" cy="484632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6B7F"/>
                </a:solidFill>
                <a:latin typeface="Calibri"/>
              </a:rPr>
              <a:t>ALFABETO (Σ)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39319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Calibri"/>
              </a:rPr>
              <a:t>D = {0, 1, 2, 3, 4, 5, 6, 7, 8, 9} (dígitos)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Calibri"/>
              </a:rPr>
              <a:t>P = D − {0} = {1, 2, …, 9} (dígitos sem o zero)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Calibri"/>
              </a:rPr>
              <a:t>Σ = D ∪ {R, '$', ␣, '.', ','}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11880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6B7F"/>
                </a:solidFill>
                <a:latin typeface="Calibri"/>
              </a:rPr>
              <a:t>LINGUAGEM 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31920"/>
            <a:ext cx="393192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F2933"/>
                </a:solidFill>
                <a:latin typeface="Calibri"/>
              </a:rPr>
              <a:t>Cadeias iniciadas por R$, com espaço opcional, seguidas da parte inteira — 0, ou um número sem zero à esquerda escrito inteiramente com separadores de milhar '.' em grupos de três dígitos, ou inteiramente sem separadores — e, por fim, vírgula e dois dígitos de centavos.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4173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6B7F"/>
                </a:solidFill>
                <a:latin typeface="Calibri"/>
              </a:rPr>
              <a:t>ER FORMAL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691640"/>
            <a:ext cx="6492240" cy="868680"/>
          </a:xfrm>
          <a:prstGeom prst="roundRect">
            <a:avLst>
              <a:gd name="adj" fmla="val 8000"/>
            </a:avLst>
          </a:prstGeom>
          <a:solidFill>
            <a:srgbClr val="E6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1691640"/>
            <a:ext cx="62179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3"/>
                </a:solidFill>
                <a:latin typeface="Cambria Math"/>
              </a:rPr>
              <a:t>R '$' (␣ | ε) ( 0  |  P D{0,2} ('.' D{3})*  |  P D* ) ',' D{2}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6517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6B7F"/>
                </a:solidFill>
                <a:latin typeface="Calibri"/>
              </a:rPr>
              <a:t>SINTAXE NO CÓDIGO (PYTHON)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2926080"/>
            <a:ext cx="6492240" cy="731520"/>
          </a:xfrm>
          <a:prstGeom prst="roundRect">
            <a:avLst>
              <a:gd name="adj" fmla="val 8000"/>
            </a:avLst>
          </a:prstGeom>
          <a:solidFill>
            <a:srgbClr val="0F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2926080"/>
            <a:ext cx="6263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3F0FF"/>
                </a:solidFill>
                <a:latin typeface="Courier New"/>
              </a:rPr>
              <a:t>re.fullmatch(r"R\$ ?(0|[1-9][0-9]{0,2}(\.[0-9]{3})*|[1-9][0-9]*),[0-9]{2}", cadeia)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7947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6B7F"/>
                </a:solidFill>
                <a:latin typeface="Calibri"/>
              </a:rPr>
              <a:t>EQUIVALÊNCIA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4114800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2A41"/>
                </a:solidFill>
                <a:latin typeface="Courier New"/>
              </a:rPr>
              <a:t>R\$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4114800"/>
            <a:ext cx="4343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Símbolos literais R e '$' ($ é escapado porque é âncora de fim no motor)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480560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2A41"/>
                </a:solidFill>
                <a:latin typeface="Courier New"/>
              </a:rPr>
              <a:t> 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480560"/>
            <a:ext cx="4343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Opcionalidade do espaço: (␣ | ε)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4846320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2A41"/>
                </a:solidFill>
                <a:latin typeface="Courier New"/>
              </a:rPr>
              <a:t>[1-9][0-9]{0,2}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4846320"/>
            <a:ext cx="4343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Repetição limitada: P D{0,2} = P (ε | D | DD)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5212080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2A41"/>
                </a:solidFill>
                <a:latin typeface="Courier New"/>
              </a:rPr>
              <a:t>(\.[0-9]{3})*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5212080"/>
            <a:ext cx="4343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Fecho de Kleene: zero ou mais grupos de milhar '.' D D 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5577840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2A41"/>
                </a:solidFill>
                <a:latin typeface="Courier New"/>
              </a:rPr>
              <a:t>[1-9][0-9]*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5577840"/>
            <a:ext cx="4343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Fecho de Kleene: P D* (inteiro sem separadores)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5943600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2A41"/>
                </a:solidFill>
                <a:latin typeface="Courier New"/>
              </a:rPr>
              <a:t>,[0-9]{2}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943600"/>
            <a:ext cx="4343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Vírgula literal seguida de exatamente dois dígitos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B6B7F"/>
                </a:solidFill>
                <a:latin typeface="Calibri"/>
              </a:rPr>
              <a:t>ER-05 · Valor do frete em reais (R$)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B2A41"/>
                </a:solidFill>
                <a:latin typeface="Cambria"/>
              </a:rPr>
              <a:t>AFNε e testes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B7F"/>
                </a:solidFill>
                <a:latin typeface="Calibri"/>
              </a:rPr>
              <a:t>25 estados · 33 transições · 17 movimentos ε · inicial q0 · final q20 (círculo duplo)</a:t>
            </a:r>
          </a:p>
        </p:txBody>
      </p:sp>
      <p:pic>
        <p:nvPicPr>
          <p:cNvPr id="5" name="Picture 4" descr="er-05-va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8252"/>
            <a:ext cx="11064240" cy="17927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251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7B45"/>
                </a:solidFill>
                <a:latin typeface="Calibri"/>
              </a:rPr>
              <a:t>ACEITAS (8)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4251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42318"/>
                </a:solidFill>
                <a:latin typeface="Calibri"/>
              </a:rPr>
              <a:t>REJEITADAS (8)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572000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E3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7B45"/>
                </a:solidFill>
                <a:latin typeface="Calibri"/>
              </a:rPr>
              <a:t>✓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R$␣1.234,56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4572000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E3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4572000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7B45"/>
                </a:solidFill>
                <a:latin typeface="Calibri"/>
              </a:rPr>
              <a:t>✓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R$1500,00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965192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E3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965192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7B45"/>
                </a:solidFill>
                <a:latin typeface="Calibri"/>
              </a:rPr>
              <a:t>✓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R$␣0,99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4965192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E3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4965192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7B45"/>
                </a:solidFill>
                <a:latin typeface="Calibri"/>
              </a:rPr>
              <a:t>✓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R$␣12.345.678,90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58384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E3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358384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7B45"/>
                </a:solidFill>
                <a:latin typeface="Calibri"/>
              </a:rPr>
              <a:t>✓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R$␣1000000,00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5358384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E3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5358384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7B45"/>
                </a:solidFill>
                <a:latin typeface="Calibri"/>
              </a:rPr>
              <a:t>✓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R$␣7,00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751576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E3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751576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7B45"/>
                </a:solidFill>
                <a:latin typeface="Calibri"/>
              </a:rPr>
              <a:t>✓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R$␣0,00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40" y="5751576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E3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5751576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7B45"/>
                </a:solidFill>
                <a:latin typeface="Calibri"/>
              </a:rPr>
              <a:t>✓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R$␣999,99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572000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4572000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ε (vazia)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15400" y="4572000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4572000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R$␣01,50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965192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4965192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R$␣1.23,45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15400" y="4965192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6840" y="4965192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R$␣1234.567,00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5358384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5358384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R$␣10,5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15400" y="5358384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5358384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1.234,56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5751576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5751576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R$␣1,234.56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15400" y="5751576"/>
            <a:ext cx="2651760" cy="329184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06840" y="5751576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B42318"/>
                </a:solidFill>
                <a:latin typeface="Calibri"/>
              </a:rPr>
              <a:t>✗ </a:t>
            </a:r>
            <a:r>
              <a:rPr sz="1050" b="0" i="0">
                <a:solidFill>
                  <a:srgbClr val="1F2933"/>
                </a:solidFill>
                <a:latin typeface="Courier New"/>
              </a:rPr>
              <a:t>R$␣-10,00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7F"/>
                </a:solidFill>
                <a:latin typeface="Calibri"/>
              </a:rPr>
              <a:t>16/16 corretos em re.fullmatch e no AFNε · 4 casos-limite · lista completa com descrições em docs/EXPRESSOES.md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B2A41"/>
                </a:solidFill>
                <a:latin typeface="Cambria"/>
              </a:rPr>
              <a:t>Entradas vazias ou inválidas geram mensagens claras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A41"/>
                </a:solidFill>
                <a:latin typeface="Calibri"/>
              </a:rPr>
              <a:t>Valor vazio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3"/>
                </a:solidFill>
                <a:latin typeface="Calibri"/>
              </a:rPr>
              <a:t>Entrada vazia (ε): a palavra vazia não pertence à linguagem desta 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41732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A41"/>
                </a:solidFill>
                <a:latin typeface="Calibri"/>
              </a:rPr>
              <a:t>Símbolo fora de 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47672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3"/>
                </a:solidFill>
                <a:latin typeface="Calibri"/>
              </a:rPr>
              <a:t>O símbolo ␣ (posição 19) não pertence ao alfabeto Σ. Verifique se há espaços sobrando no início ou no fim.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1752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154679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A41"/>
                </a:solidFill>
                <a:latin typeface="Calibri"/>
              </a:rPr>
              <a:t>Falha no AFNε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47872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3"/>
                </a:solidFill>
                <a:latin typeface="Calibri"/>
              </a:rPr>
              <a:t>Rejeitada na posição 5: depois de ler "31/0", o AFNε não tem transição com o símbolo '4'.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01752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154679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A41"/>
                </a:solidFill>
                <a:latin typeface="Calibri"/>
              </a:rPr>
              <a:t>Cadeia incompleta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547872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3"/>
                </a:solidFill>
                <a:latin typeface="Calibri"/>
              </a:rPr>
              <a:t>Toda a entrada foi lida, mas o AFNε terminou em estados não finais.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1772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7548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A41"/>
                </a:solidFill>
                <a:latin typeface="Calibri"/>
              </a:rPr>
              <a:t>Arquivo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148072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3"/>
                </a:solidFill>
                <a:latin typeface="Calibri"/>
              </a:rPr>
              <a:t>Nenhum arquivo, extensão diferente de .csv, vazio, binário, maior que 1 MB ou sem registros.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61772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7548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A41"/>
                </a:solidFill>
                <a:latin typeface="Calibri"/>
              </a:rPr>
              <a:t>Estrutura do CSV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148072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3"/>
                </a:solidFill>
                <a:latin typeface="Calibri"/>
              </a:rPr>
              <a:t>Colunas ausentes no cabeçalho; linha com colunas a mais ou a menos é sinalizada e o restante continua sendo processado.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B6B7F"/>
                </a:solidFill>
                <a:latin typeface="Calibri"/>
              </a:rPr>
              <a:t>Espaços extras não são removidos: " 11222333000181" é rejeitado, exatamente como nos testes — o programa reconhece a mesma linguagem da 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B2A41"/>
                </a:solidFill>
                <a:latin typeface="Cambria"/>
              </a:rPr>
              <a:t>Demonstração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2A541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4173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A41"/>
                </a:solidFill>
                <a:latin typeface="Calibri"/>
              </a:rPr>
              <a:t>Cadeia aceita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76479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B7F"/>
                </a:solidFill>
                <a:latin typeface="Calibri"/>
              </a:rPr>
              <a:t>BRA2E19 → ER-02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2A541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6060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A41"/>
                </a:solidFill>
                <a:latin typeface="Calibri"/>
              </a:rPr>
              <a:t>Cadeia rejeitada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95351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B7F"/>
                </a:solidFill>
                <a:latin typeface="Calibri"/>
              </a:rPr>
              <a:t>(23) 91234-5678 → DDD inexistente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404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8404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2A541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7947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A41"/>
                </a:solidFill>
                <a:latin typeface="Calibri"/>
              </a:rPr>
              <a:t>Planilha de exemplo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14223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B7F"/>
                </a:solidFill>
                <a:latin typeface="Calibri"/>
              </a:rPr>
              <a:t>15 fretes: 5 válidos, 10 com erros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0292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2A541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9834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A41"/>
                </a:solidFill>
                <a:latin typeface="Calibri"/>
              </a:rPr>
              <a:t>Simulação no AFNε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33095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B7F"/>
                </a:solidFill>
                <a:latin typeface="Calibri"/>
              </a:rPr>
              <a:t>estados ativos a cada símbolo</a:t>
            </a:r>
          </a:p>
        </p:txBody>
      </p:sp>
      <p:pic>
        <p:nvPicPr>
          <p:cNvPr id="19" name="Picture 18" descr="tela_vali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24488"/>
            <a:ext cx="7040880" cy="1917382"/>
          </a:xfrm>
          <a:prstGeom prst="rect">
            <a:avLst/>
          </a:prstGeom>
        </p:spPr>
      </p:pic>
      <p:pic>
        <p:nvPicPr>
          <p:cNvPr id="20" name="Picture 19" descr="tela_simul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6946" y="3931920"/>
            <a:ext cx="4930986" cy="23774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B7F"/>
                </a:solidFill>
                <a:latin typeface="Calibri"/>
              </a:rPr>
              <a:t>Executar: python -m validafrete  →  http://127.0.0.1:5050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Testes e análise dos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2A541"/>
                </a:solidFill>
                <a:latin typeface="Cambria"/>
              </a:rPr>
              <a:t>223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testes automatizados
(pytest)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645920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2A541"/>
                </a:solidFill>
                <a:latin typeface="Cambria"/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65176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casos das ERs
8 aceitas + 8 rejeitadas por 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645920"/>
            <a:ext cx="3566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2A541"/>
                </a:solidFill>
                <a:latin typeface="Cambria"/>
              </a:rPr>
              <a:t>15.000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651760"/>
            <a:ext cx="3566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cadeias comparando
AFNε × re.fullmatch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1645920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2A541"/>
                </a:solidFill>
                <a:latin typeface="Cambria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265176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falhas ou
divergências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862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2A541"/>
                </a:solidFill>
                <a:latin typeface="Calibri"/>
              </a:rPr>
              <a:t>FALSOS RESULTADOS CONHECIDOS (a ER valida o formato, não a aritmética)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7680"/>
            <a:ext cx="110642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Courier New"/>
              </a:rPr>
              <a:t>ER-01 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00.000.000/0000-00 é aceito: dígitos verificadores não são calculados.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Courier New"/>
              </a:rPr>
              <a:t>ER-03 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DDD existente com número inativo é aceito.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Courier New"/>
              </a:rPr>
              <a:t>ER-04 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29/02/2023 é aceito: a ER não distingue anos bissextos.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FB0C6"/>
                </a:solidFill>
                <a:latin typeface="Calibri"/>
              </a:rPr>
              <a:t>Detalhes: docs/RESULTADOS_TESTES.md · página Testes da aplicação · python -m pytest -v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B2A41"/>
                </a:solidFill>
                <a:latin typeface="Cambria"/>
              </a:rPr>
              <a:t>Limitações e possíveis melhorias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5440680" cy="448056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64592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B42318"/>
                </a:solidFill>
                <a:latin typeface="Cambria"/>
              </a:rPr>
              <a:t>Limitações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377440"/>
            <a:ext cx="493776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1400"/>
              </a:spcAft>
              <a:buChar char="•"/>
            </a:pPr>
            <a:r>
              <a:rPr sz="1800" b="0" i="0">
                <a:solidFill>
                  <a:srgbClr val="1F2933"/>
                </a:solidFill>
                <a:latin typeface="Calibri"/>
              </a:rPr>
              <a:t>Formato ≠ existência: DV do CNPJ, placa registrada e telefone ativo não são consultados.</a:t>
            </a:r>
          </a:p>
          <a:p>
            <a:pPr algn="l" marL="201168" indent="-201168">
              <a:spcAft>
                <a:spcPts val="1400"/>
              </a:spcAft>
              <a:buChar char="•"/>
            </a:pPr>
            <a:r>
              <a:rPr sz="1800" b="0" i="0">
                <a:solidFill>
                  <a:srgbClr val="1F2933"/>
                </a:solidFill>
                <a:latin typeface="Calibri"/>
              </a:rPr>
              <a:t>29/02 aceito em qualquer ano (ER-04).</a:t>
            </a:r>
          </a:p>
          <a:p>
            <a:pPr algn="l" marL="201168" indent="-201168">
              <a:spcAft>
                <a:spcPts val="1400"/>
              </a:spcAft>
              <a:buChar char="•"/>
            </a:pPr>
            <a:r>
              <a:rPr sz="1800" b="0" i="0">
                <a:solidFill>
                  <a:srgbClr val="1F2933"/>
                </a:solidFill>
                <a:latin typeface="Calibri"/>
              </a:rPr>
              <a:t>Sensível a maiúsculas e espaços, de propósito, para não alterar a linguagem.</a:t>
            </a:r>
          </a:p>
          <a:p>
            <a:pPr algn="l" marL="201168" indent="-201168">
              <a:spcAft>
                <a:spcPts val="1400"/>
              </a:spcAft>
              <a:buChar char="•"/>
            </a:pPr>
            <a:r>
              <a:rPr sz="1800" b="0" i="0">
                <a:solidFill>
                  <a:srgbClr val="1F2933"/>
                </a:solidFill>
                <a:latin typeface="Calibri"/>
              </a:rPr>
              <a:t>AFNε de Thompson são grandes (84 estados na ER-03).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417320"/>
            <a:ext cx="5440680" cy="448056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7B45"/>
                </a:solidFill>
                <a:latin typeface="Cambria"/>
              </a:rPr>
              <a:t>Melhorias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377440"/>
            <a:ext cx="493776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1400"/>
              </a:spcAft>
              <a:buChar char="•"/>
            </a:pPr>
            <a:r>
              <a:rPr sz="1800" b="0" i="0">
                <a:solidFill>
                  <a:srgbClr val="1F2933"/>
                </a:solidFill>
                <a:latin typeface="Calibri"/>
              </a:rPr>
              <a:t>Validação semântica após a ER: DV módulo 11 e anos bissextos.</a:t>
            </a:r>
          </a:p>
          <a:p>
            <a:pPr algn="l" marL="201168" indent="-201168">
              <a:spcAft>
                <a:spcPts val="1400"/>
              </a:spcAft>
              <a:buChar char="•"/>
            </a:pPr>
            <a:r>
              <a:rPr sz="1800" b="0" i="0">
                <a:solidFill>
                  <a:srgbClr val="1F2933"/>
                </a:solidFill>
                <a:latin typeface="Calibri"/>
              </a:rPr>
              <a:t>Converter AFNε em AFD (subconjuntos) e minimizar.</a:t>
            </a:r>
          </a:p>
          <a:p>
            <a:pPr algn="l" marL="201168" indent="-201168">
              <a:spcAft>
                <a:spcPts val="1400"/>
              </a:spcAft>
              <a:buChar char="•"/>
            </a:pPr>
            <a:r>
              <a:rPr sz="1800" b="0" i="0">
                <a:solidFill>
                  <a:srgbClr val="1F2933"/>
                </a:solidFill>
                <a:latin typeface="Calibri"/>
              </a:rPr>
              <a:t>Normalização opcional com aviso ao usuário.</a:t>
            </a:r>
          </a:p>
          <a:p>
            <a:pPr algn="l" marL="201168" indent="-201168">
              <a:spcAft>
                <a:spcPts val="1400"/>
              </a:spcAft>
              <a:buChar char="•"/>
            </a:pPr>
            <a:r>
              <a:rPr sz="1800" b="0" i="0">
                <a:solidFill>
                  <a:srgbClr val="1F2933"/>
                </a:solidFill>
                <a:latin typeface="Calibri"/>
              </a:rPr>
              <a:t>Novas ERs: CEP, chave da NF-e, RNTRC; planilhas .xlsx.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B2A41"/>
                </a:solidFill>
                <a:latin typeface="Cambria"/>
              </a:rPr>
              <a:t>Contribuições da equipe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3520440" cy="301752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59" y="169164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6916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2A541"/>
                </a:solidFill>
                <a:latin typeface="Calibri"/>
              </a:rPr>
              <a:t>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691640"/>
            <a:ext cx="2286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2A41"/>
                </a:solidFill>
                <a:latin typeface="Cambria"/>
              </a:rPr>
              <a:t>Pedro Paulo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5176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3"/>
                </a:solidFill>
                <a:latin typeface="Calibri"/>
              </a:rPr>
              <a:t>Interface web, processamento de CSV, dados de exemplo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8404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B6B7F"/>
                </a:solidFill>
                <a:latin typeface="Calibri"/>
              </a:rPr>
              <a:t>ER-01 · ER-02 · demonstração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463040"/>
            <a:ext cx="3520440" cy="301752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1999" y="169164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16916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2A541"/>
                </a:solidFill>
                <a:latin typeface="Calibri"/>
              </a:rPr>
              <a:t>YA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79" y="1691640"/>
            <a:ext cx="2286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2A41"/>
                </a:solidFill>
                <a:latin typeface="Cambria"/>
              </a:rPr>
              <a:t>Yuri Aguiar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65176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3"/>
                </a:solidFill>
                <a:latin typeface="Calibri"/>
              </a:rPr>
              <a:t>Construção e simulação do AFNε, diagramas, repositório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38404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B6B7F"/>
                </a:solidFill>
                <a:latin typeface="Calibri"/>
              </a:rPr>
              <a:t>ER-03 · Thompson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463040"/>
            <a:ext cx="3520440" cy="301752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21040" y="169164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6916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2A541"/>
                </a:solidFill>
                <a:latin typeface="Calibri"/>
              </a:rPr>
              <a:t>JR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19" y="1691640"/>
            <a:ext cx="2286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2A41"/>
                </a:solidFill>
                <a:latin typeface="Cambria"/>
              </a:rPr>
              <a:t>João Rath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65176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3"/>
                </a:solidFill>
                <a:latin typeface="Calibri"/>
              </a:rPr>
              <a:t>Casos de teste, testes automatizados, análise, relatório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8404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B6B7F"/>
                </a:solidFill>
                <a:latin typeface="Calibri"/>
              </a:rPr>
              <a:t>ER-04 · ER-05 · testes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80060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910328"/>
            <a:ext cx="10607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2933"/>
                </a:solidFill>
                <a:latin typeface="Calibri"/>
              </a:rPr>
              <a:t>Em conjunto: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definição do problema, escolha das ERs, notação formal e revisão dos AFNε.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2933"/>
                </a:solidFill>
                <a:latin typeface="Calibri"/>
              </a:rPr>
              <a:t>Uso de IA: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Claude Code (Anthropic) apoiou a estrutura do projeto, o módulo do AFNε, os scripts de documentação e a redação inicial de README, relatório e slides. Todo o conteúdo foi revisado e é explicado pela equipe.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mbria"/>
              </a:rPr>
              <a:t>Obrigado!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F2A541"/>
                </a:solidFill>
                <a:latin typeface="Calibri"/>
              </a:rPr>
              <a:t>Perguntas?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CADCFC"/>
                </a:solidFill>
                <a:latin typeface="Calibri"/>
              </a:rPr>
              <a:t>Repositório: github.com/&lt;usuario&gt;/validafrete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CADCFC"/>
                </a:solidFill>
                <a:latin typeface="Calibri"/>
              </a:rPr>
              <a:t>Pedro Paulo · Yuri Aguiar · João Rath — CC6NA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