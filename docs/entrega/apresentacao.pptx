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73152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LINGUAGENS FORMAIS E AUTÔMATOS · TRABALHO DO 1º BIMESTRE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737360"/>
            <a:ext cx="65836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mbria"/>
              </a:rPr>
              <a:t>ValidaFrete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834640"/>
            <a:ext cx="62179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 i="0">
                <a:solidFill>
                  <a:srgbClr val="CADCFC"/>
                </a:solidFill>
                <a:latin typeface="Calibri"/>
              </a:rPr>
              <a:t>Validador de cadastros de fretes com Expressões Regulares e AFNε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5943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Yuri Aguiar  ·  Pedro Paulo  ·  João Rath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FFFFFF"/>
                </a:solidFill>
                <a:latin typeface="Calibri"/>
              </a:rPr>
              <a:t>Turma CC6NA  ·  30/09/2026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863840" y="1371600"/>
            <a:ext cx="3566160" cy="475488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79" y="1371600"/>
            <a:ext cx="3429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500" b="0" i="0">
                <a:solidFill>
                  <a:srgbClr val="1F2933"/>
                </a:solidFill>
                <a:latin typeface="Courier New"/>
              </a:rPr>
              <a:t>12.ABC.345/01DE-35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863840" y="2029967"/>
            <a:ext cx="3566160" cy="475488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955279" y="2029967"/>
            <a:ext cx="3429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500" b="0" i="0">
                <a:solidFill>
                  <a:srgbClr val="1F2933"/>
                </a:solidFill>
                <a:latin typeface="Courier New"/>
              </a:rPr>
              <a:t>BRA2E19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863840" y="2688336"/>
            <a:ext cx="3566160" cy="475488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955279" y="2688336"/>
            <a:ext cx="3429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500" b="0" i="0">
                <a:solidFill>
                  <a:srgbClr val="1F2933"/>
                </a:solidFill>
                <a:latin typeface="Courier New"/>
              </a:rPr>
              <a:t>ABC-1D23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863840" y="3346704"/>
            <a:ext cx="3566160" cy="475488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955279" y="3346704"/>
            <a:ext cx="3429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500" b="0" i="0">
                <a:solidFill>
                  <a:srgbClr val="1F2933"/>
                </a:solidFill>
                <a:latin typeface="Courier New"/>
              </a:rPr>
              <a:t>(23) 91234-5678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63840" y="4005072"/>
            <a:ext cx="3566160" cy="475488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955279" y="4005072"/>
            <a:ext cx="3429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500" b="0" i="0">
                <a:solidFill>
                  <a:srgbClr val="1F2933"/>
                </a:solidFill>
                <a:latin typeface="Courier New"/>
              </a:rPr>
              <a:t>31/04/2026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63840" y="4663440"/>
            <a:ext cx="3566160" cy="475488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955279" y="4663440"/>
            <a:ext cx="3429000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500" b="0" i="0">
                <a:solidFill>
                  <a:srgbClr val="1F2933"/>
                </a:solidFill>
                <a:latin typeface="Courier New"/>
              </a:rPr>
              <a:t>R$ 1.250,00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Cadastros de fretes chegam cheios de erros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417320"/>
            <a:ext cx="4206240" cy="3291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1F2933"/>
                </a:solidFill>
                <a:latin typeface="Calibri"/>
              </a:rPr>
              <a:t>Transportadoras recebem planilhas preenchidas à mão por filiais, parceiros e clientes.</a:t>
            </a:r>
          </a:p>
          <a:p>
            <a:pPr algn="l">
              <a:spcAft>
                <a:spcPts val="1200"/>
              </a:spcAft>
            </a:pPr>
            <a:r>
              <a:rPr sz="1600" b="0" i="0">
                <a:solidFill>
                  <a:srgbClr val="1F2933"/>
                </a:solidFill>
                <a:latin typeface="Calibri"/>
              </a:rPr>
              <a:t>Erros de formato só aparecem quando a nota fiscal é recusada ou o motorista não é encontrado.</a:t>
            </a:r>
          </a:p>
          <a:p>
            <a:pPr algn="l">
              <a:spcAft>
                <a:spcPts val="1200"/>
              </a:spcAft>
            </a:pPr>
            <a:r>
              <a:rPr sz="1600" b="1" i="0">
                <a:solidFill>
                  <a:srgbClr val="1F2933"/>
                </a:solidFill>
                <a:latin typeface="Calibri"/>
              </a:rPr>
              <a:t>Desde julho de 2026 </a:t>
            </a:r>
            <a:r>
              <a:rPr sz="1600" b="0" i="0">
                <a:solidFill>
                  <a:srgbClr val="1F2933"/>
                </a:solidFill>
                <a:latin typeface="Calibri"/>
              </a:rPr>
              <a:t>o CNPJ também pode ter letras (IN RFB 2.229/2024): validações antigas rejeitam cadastros corretos.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120640" y="1417320"/>
            <a:ext cx="6492240" cy="768096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03520" y="1417320"/>
            <a:ext cx="11887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2A41"/>
                </a:solidFill>
                <a:latin typeface="Calibri"/>
              </a:rPr>
              <a:t>CNPJ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92240" y="1618488"/>
            <a:ext cx="2651760" cy="365760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79" y="1618488"/>
            <a:ext cx="2514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12ABC345/01DE-35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0" y="1417320"/>
            <a:ext cx="2194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máscara pela metade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2331720"/>
            <a:ext cx="6492240" cy="768096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0" y="2331720"/>
            <a:ext cx="11887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2A41"/>
                </a:solidFill>
                <a:latin typeface="Calibri"/>
              </a:rPr>
              <a:t>Placa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92240" y="2532888"/>
            <a:ext cx="2651760" cy="365760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83679" y="2532888"/>
            <a:ext cx="2514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ABC-1D23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2331720"/>
            <a:ext cx="2194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Mercosul não tem hífen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120640" y="3246120"/>
            <a:ext cx="6492240" cy="768096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303520" y="3246120"/>
            <a:ext cx="11887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2A41"/>
                </a:solidFill>
                <a:latin typeface="Calibri"/>
              </a:rPr>
              <a:t>Telefone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3447288"/>
            <a:ext cx="2651760" cy="365760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79" y="3447288"/>
            <a:ext cx="2514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(23) 91234-5678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3246120"/>
            <a:ext cx="2194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DDD 23 não existe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20640" y="4160520"/>
            <a:ext cx="6492240" cy="768096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0" y="4160520"/>
            <a:ext cx="11887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2A41"/>
                </a:solidFill>
                <a:latin typeface="Calibri"/>
              </a:rPr>
              <a:t>Data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92240" y="4361688"/>
            <a:ext cx="2651760" cy="365760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79" y="4361688"/>
            <a:ext cx="2514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31/04/2026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4160520"/>
            <a:ext cx="2194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abril tem só 30 dias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20640" y="5074920"/>
            <a:ext cx="6492240" cy="768096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303520" y="5074920"/>
            <a:ext cx="118872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B2A41"/>
                </a:solidFill>
                <a:latin typeface="Calibri"/>
              </a:rPr>
              <a:t>Valor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92240" y="5276088"/>
            <a:ext cx="2651760" cy="365760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79" y="5276088"/>
            <a:ext cx="2514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R$ 1.23,45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326880" y="5074920"/>
            <a:ext cx="2194560" cy="7680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grupo de milhar com 2 dígitos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A solução: entrada, processamento e saída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554480"/>
            <a:ext cx="3429000" cy="338328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59" y="178308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78308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2A541"/>
                </a:solidFill>
                <a:latin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78308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B2A41"/>
                </a:solidFill>
                <a:latin typeface="Cambria"/>
              </a:rPr>
              <a:t>Entrada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606040"/>
            <a:ext cx="29260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spcAft>
                <a:spcPts val="1000"/>
              </a:spcAft>
              <a:buChar char="•"/>
            </a:pPr>
            <a:r>
              <a:rPr sz="1500" b="0" i="0">
                <a:solidFill>
                  <a:srgbClr val="1F2933"/>
                </a:solidFill>
                <a:latin typeface="Calibri"/>
              </a:rPr>
              <a:t>Valor digitado, com o tipo escolhido ou identificado automaticamente</a:t>
            </a:r>
          </a:p>
          <a:p>
            <a:pPr algn="l" marL="201168" indent="-201168">
              <a:spcAft>
                <a:spcPts val="1000"/>
              </a:spcAft>
              <a:buChar char="•"/>
            </a:pPr>
            <a:r>
              <a:rPr sz="1500" b="0" i="0">
                <a:solidFill>
                  <a:srgbClr val="1F2933"/>
                </a:solidFill>
                <a:latin typeface="Calibri"/>
              </a:rPr>
              <a:t>Planilha CSV: id;cnpj;placa;telefone;data;valor</a:t>
            </a:r>
          </a:p>
        </p:txBody>
      </p:sp>
      <p:sp>
        <p:nvSpPr>
          <p:cNvPr id="8" name="Right Arrow 7"/>
          <p:cNvSpPr/>
          <p:nvPr/>
        </p:nvSpPr>
        <p:spPr>
          <a:xfrm>
            <a:off x="4023359" y="3063240"/>
            <a:ext cx="365760" cy="365760"/>
          </a:xfrm>
          <a:prstGeom prst="rightArrow">
            <a:avLst/>
          </a:prstGeom>
          <a:solidFill>
            <a:srgbClr val="F2A5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34840" y="1554480"/>
            <a:ext cx="3429000" cy="338328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709159" y="178308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09159" y="178308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2A541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40679" y="178308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B2A41"/>
                </a:solidFill>
                <a:latin typeface="Cambria"/>
              </a:rPr>
              <a:t>Processamento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59" y="2606040"/>
            <a:ext cx="29260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spcAft>
                <a:spcPts val="1000"/>
              </a:spcAft>
              <a:buChar char="•"/>
            </a:pPr>
            <a:r>
              <a:rPr sz="1500" b="0" i="0">
                <a:solidFill>
                  <a:srgbClr val="1F2933"/>
                </a:solidFill>
                <a:latin typeface="Calibri"/>
              </a:rPr>
              <a:t>re.fullmatch com a ER de cada campo</a:t>
            </a:r>
          </a:p>
          <a:p>
            <a:pPr algn="l" marL="201168" indent="-201168">
              <a:spcAft>
                <a:spcPts val="1000"/>
              </a:spcAft>
              <a:buChar char="•"/>
            </a:pPr>
            <a:r>
              <a:rPr sz="1500" b="0" i="0">
                <a:solidFill>
                  <a:srgbClr val="1F2933"/>
                </a:solidFill>
                <a:latin typeface="Calibri"/>
              </a:rPr>
              <a:t>Se rejeitado: simulação do AFNε para achar o símbolo que falhou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909559" y="3063240"/>
            <a:ext cx="365760" cy="365760"/>
          </a:xfrm>
          <a:prstGeom prst="rightArrow">
            <a:avLst/>
          </a:prstGeom>
          <a:solidFill>
            <a:srgbClr val="F2A5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321040" y="1554480"/>
            <a:ext cx="3429000" cy="338328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595360" y="1783080"/>
            <a:ext cx="566928" cy="566928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595360" y="1783080"/>
            <a:ext cx="566928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2A541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26880" y="1783080"/>
            <a:ext cx="228600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200" b="1" i="0">
                <a:solidFill>
                  <a:srgbClr val="1B2A41"/>
                </a:solidFill>
                <a:latin typeface="Cambria"/>
              </a:rPr>
              <a:t>Saída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95360" y="2606040"/>
            <a:ext cx="292608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spcAft>
                <a:spcPts val="1000"/>
              </a:spcAft>
              <a:buChar char="•"/>
            </a:pPr>
            <a:r>
              <a:rPr sz="1500" b="0" i="0">
                <a:solidFill>
                  <a:srgbClr val="1F2933"/>
                </a:solidFill>
                <a:latin typeface="Calibri"/>
              </a:rPr>
              <a:t>Aceita / rejeitada, com posição e motivo</a:t>
            </a:r>
          </a:p>
          <a:p>
            <a:pPr algn="l" marL="201168" indent="-201168">
              <a:spcAft>
                <a:spcPts val="1000"/>
              </a:spcAft>
              <a:buChar char="•"/>
            </a:pPr>
            <a:r>
              <a:rPr sz="1500" b="0" i="0">
                <a:solidFill>
                  <a:srgbClr val="1F2933"/>
                </a:solidFill>
                <a:latin typeface="Calibri"/>
              </a:rPr>
              <a:t>Resumo por ER, tabela de erros e relatório CSV para download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394960"/>
            <a:ext cx="2011680" cy="502920"/>
          </a:xfrm>
          <a:prstGeom prst="roundRect">
            <a:avLst>
              <a:gd name="adj" fmla="val 3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48640" y="5394960"/>
            <a:ext cx="2011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Python 3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834640" y="5394960"/>
            <a:ext cx="2011680" cy="502920"/>
          </a:xfrm>
          <a:prstGeom prst="roundRect">
            <a:avLst>
              <a:gd name="adj" fmla="val 3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834640" y="5394960"/>
            <a:ext cx="2011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Flask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120640" y="5394960"/>
            <a:ext cx="2011680" cy="502920"/>
          </a:xfrm>
          <a:prstGeom prst="roundRect">
            <a:avLst>
              <a:gd name="adj" fmla="val 3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120640" y="5394960"/>
            <a:ext cx="2011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módulo re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406640" y="5394960"/>
            <a:ext cx="2011680" cy="502920"/>
          </a:xfrm>
          <a:prstGeom prst="roundRect">
            <a:avLst>
              <a:gd name="adj" fmla="val 3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06640" y="5394960"/>
            <a:ext cx="2011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pytest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692640" y="5394960"/>
            <a:ext cx="2011680" cy="502920"/>
          </a:xfrm>
          <a:prstGeom prst="roundRect">
            <a:avLst>
              <a:gd name="adj" fmla="val 3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692640" y="5394960"/>
            <a:ext cx="201168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Graphviz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Uma única fonte para a mesma linguagem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325880"/>
            <a:ext cx="10972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0" i="1">
                <a:solidFill>
                  <a:srgbClr val="5B6B7F"/>
                </a:solidFill>
                <a:latin typeface="Calibri"/>
              </a:rPr>
              <a:t>Regra central do trabalho: ER formal, slides, código, testes e AFNε devem representar a mesma linguagem.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480560" y="2971800"/>
            <a:ext cx="3246120" cy="1325880"/>
          </a:xfrm>
          <a:prstGeom prst="roundRect">
            <a:avLst>
              <a:gd name="adj" fmla="val 8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480560" y="3017520"/>
            <a:ext cx="3246120" cy="12344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2A541"/>
                </a:solidFill>
                <a:latin typeface="Courier New"/>
              </a:rPr>
              <a:t>expressoes.py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Calibri"/>
              </a:rPr>
              <a:t>5 ERs: formal, padrão, Σ, linguagem, limitações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011680"/>
            <a:ext cx="3429000" cy="11887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14884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A41"/>
                </a:solidFill>
                <a:latin typeface="Courier New"/>
              </a:rPr>
              <a:t>validador.py + app.py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2933"/>
                </a:solidFill>
                <a:latin typeface="Calibri"/>
              </a:rPr>
              <a:t>re.fullmatch valida cada campo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3977639" y="2606040"/>
            <a:ext cx="502921" cy="1024128"/>
          </a:xfrm>
          <a:prstGeom prst="line">
            <a:avLst/>
          </a:prstGeom>
          <a:ln w="31750">
            <a:solidFill>
              <a:srgbClr val="F2A5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548640" y="4206240"/>
            <a:ext cx="3429000" cy="11887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34340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A41"/>
                </a:solidFill>
                <a:latin typeface="Courier New"/>
              </a:rPr>
              <a:t>casos_teste.py + tests/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2933"/>
                </a:solidFill>
                <a:latin typeface="Calibri"/>
              </a:rPr>
              <a:t>80 casos, 223 testes automatizados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3977639" y="3630168"/>
            <a:ext cx="502921" cy="1170432"/>
          </a:xfrm>
          <a:prstGeom prst="line">
            <a:avLst/>
          </a:prstGeom>
          <a:ln w="31750">
            <a:solidFill>
              <a:srgbClr val="F2A5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8229600" y="2011680"/>
            <a:ext cx="3429000" cy="11887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458200" y="214884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A41"/>
                </a:solidFill>
                <a:latin typeface="Courier New"/>
              </a:rPr>
              <a:t>afn.py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2933"/>
                </a:solidFill>
                <a:latin typeface="Calibri"/>
              </a:rPr>
              <a:t>Thompson gera o AFNε a partir do padrão do código</a:t>
            </a:r>
          </a:p>
        </p:txBody>
      </p:sp>
      <p:cxnSp>
        <p:nvCxnSpPr>
          <p:cNvPr id="14" name="Connector 13"/>
          <p:cNvCxnSpPr/>
          <p:nvPr/>
        </p:nvCxnSpPr>
        <p:spPr>
          <a:xfrm flipH="1">
            <a:off x="7726679" y="2606040"/>
            <a:ext cx="502921" cy="1024128"/>
          </a:xfrm>
          <a:prstGeom prst="line">
            <a:avLst/>
          </a:prstGeom>
          <a:ln w="31750">
            <a:solidFill>
              <a:srgbClr val="F2A5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8229600" y="4206240"/>
            <a:ext cx="3429000" cy="11887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58200" y="4343400"/>
            <a:ext cx="3017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 i="0">
                <a:solidFill>
                  <a:srgbClr val="1B2A41"/>
                </a:solidFill>
                <a:latin typeface="Courier New"/>
              </a:rPr>
              <a:t>scripts/</a:t>
            </a:r>
          </a:p>
          <a:p>
            <a:pPr algn="l">
              <a:spcAft>
                <a:spcPts val="400"/>
              </a:spcAft>
            </a:pPr>
            <a:r>
              <a:rPr sz="1400" b="0" i="0">
                <a:solidFill>
                  <a:srgbClr val="1F2933"/>
                </a:solidFill>
                <a:latin typeface="Calibri"/>
              </a:rPr>
              <a:t>diagramas, fichas, relatório e estes slides</a:t>
            </a:r>
          </a:p>
        </p:txBody>
      </p:sp>
      <p:cxnSp>
        <p:nvCxnSpPr>
          <p:cNvPr id="17" name="Connector 16"/>
          <p:cNvCxnSpPr/>
          <p:nvPr/>
        </p:nvCxnSpPr>
        <p:spPr>
          <a:xfrm flipH="1" flipV="1">
            <a:off x="7726679" y="3630168"/>
            <a:ext cx="502921" cy="1170432"/>
          </a:xfrm>
          <a:prstGeom prst="line">
            <a:avLst/>
          </a:prstGeom>
          <a:ln w="31750">
            <a:solidFill>
              <a:srgbClr val="F2A54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548640" y="5669280"/>
            <a:ext cx="11064240" cy="548640"/>
          </a:xfrm>
          <a:prstGeom prst="roundRect">
            <a:avLst>
              <a:gd name="adj" fmla="val 8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5669280"/>
            <a:ext cx="1078992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1" i="0">
                <a:solidFill>
                  <a:srgbClr val="1E7B45"/>
                </a:solidFill>
                <a:latin typeface="Calibri"/>
              </a:rPr>
              <a:t>Testes comparam AFNε × re.fullmatch em 15.000 cadeias geradas: 0 divergências.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Da Expressão Regular ao AFNε: construção de Thompson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371600"/>
            <a:ext cx="3520440" cy="2057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4630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2A41"/>
                </a:solidFill>
                <a:latin typeface="Calibri"/>
              </a:rPr>
              <a:t>Símbolo</a:t>
            </a:r>
            <a:r>
              <a:rPr sz="1400" b="0" i="0">
                <a:solidFill>
                  <a:srgbClr val="5B6B7F"/>
                </a:solidFill>
                <a:latin typeface="Courier New"/>
              </a:rPr>
              <a:t>   a</a:t>
            </a:r>
          </a:p>
        </p:txBody>
      </p:sp>
      <p:pic>
        <p:nvPicPr>
          <p:cNvPr id="5" name="Picture 4" descr="mini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275" y="2344043"/>
            <a:ext cx="1875169" cy="523992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4297679" y="1371600"/>
            <a:ext cx="3520440" cy="2057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480559" y="14630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2A41"/>
                </a:solidFill>
                <a:latin typeface="Calibri"/>
              </a:rPr>
              <a:t>União r | s</a:t>
            </a:r>
            <a:r>
              <a:rPr sz="1400" b="0" i="0">
                <a:solidFill>
                  <a:srgbClr val="5B6B7F"/>
                </a:solidFill>
                <a:latin typeface="Courier New"/>
              </a:rPr>
              <a:t>   a|b</a:t>
            </a:r>
          </a:p>
        </p:txBody>
      </p:sp>
      <p:pic>
        <p:nvPicPr>
          <p:cNvPr id="8" name="Picture 7" descr="mini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34840" y="2113354"/>
            <a:ext cx="3246120" cy="98537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046719" y="1371600"/>
            <a:ext cx="3520440" cy="2057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599" y="146304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2A41"/>
                </a:solidFill>
                <a:latin typeface="Calibri"/>
              </a:rPr>
              <a:t>Concatenação rs</a:t>
            </a:r>
            <a:r>
              <a:rPr sz="1400" b="0" i="0">
                <a:solidFill>
                  <a:srgbClr val="5B6B7F"/>
                </a:solidFill>
                <a:latin typeface="Courier New"/>
              </a:rPr>
              <a:t>   ab</a:t>
            </a:r>
          </a:p>
        </p:txBody>
      </p:sp>
      <p:pic>
        <p:nvPicPr>
          <p:cNvPr id="11" name="Picture 10" descr="mini_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26617" y="2344043"/>
            <a:ext cx="2560644" cy="523992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548640" y="3566160"/>
            <a:ext cx="3520440" cy="2057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36576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2A41"/>
                </a:solidFill>
                <a:latin typeface="Calibri"/>
              </a:rPr>
              <a:t>Fecho de Kleene r*</a:t>
            </a:r>
            <a:r>
              <a:rPr sz="1400" b="0" i="0">
                <a:solidFill>
                  <a:srgbClr val="5B6B7F"/>
                </a:solidFill>
                <a:latin typeface="Courier New"/>
              </a:rPr>
              <a:t>   a*</a:t>
            </a:r>
          </a:p>
        </p:txBody>
      </p:sp>
      <p:pic>
        <p:nvPicPr>
          <p:cNvPr id="14" name="Picture 13" descr="mini_3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443032"/>
            <a:ext cx="3246120" cy="715135"/>
          </a:xfrm>
          <a:prstGeom prst="rect">
            <a:avLst/>
          </a:prstGeom>
        </p:spPr>
      </p:pic>
      <p:sp>
        <p:nvSpPr>
          <p:cNvPr id="15" name="Rounded Rectangle 14"/>
          <p:cNvSpPr/>
          <p:nvPr/>
        </p:nvSpPr>
        <p:spPr>
          <a:xfrm>
            <a:off x="4297679" y="3566160"/>
            <a:ext cx="3520440" cy="2057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80559" y="36576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2A41"/>
                </a:solidFill>
                <a:latin typeface="Calibri"/>
              </a:rPr>
              <a:t>Opcional r? = (r | ε)</a:t>
            </a:r>
            <a:r>
              <a:rPr sz="1400" b="0" i="0">
                <a:solidFill>
                  <a:srgbClr val="5B6B7F"/>
                </a:solidFill>
                <a:latin typeface="Courier New"/>
              </a:rPr>
              <a:t>   a?</a:t>
            </a:r>
          </a:p>
        </p:txBody>
      </p:sp>
      <p:pic>
        <p:nvPicPr>
          <p:cNvPr id="17" name="Picture 16" descr="mini_4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120315" y="4538603"/>
            <a:ext cx="1875169" cy="523992"/>
          </a:xfrm>
          <a:prstGeom prst="rect">
            <a:avLst/>
          </a:prstGeom>
        </p:spPr>
      </p:pic>
      <p:sp>
        <p:nvSpPr>
          <p:cNvPr id="18" name="Rounded Rectangle 17"/>
          <p:cNvSpPr/>
          <p:nvPr/>
        </p:nvSpPr>
        <p:spPr>
          <a:xfrm>
            <a:off x="8046719" y="3566160"/>
            <a:ext cx="3520440" cy="205740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599" y="3657600"/>
            <a:ext cx="3200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B2A41"/>
                </a:solidFill>
                <a:latin typeface="Calibri"/>
              </a:rPr>
              <a:t>Repetição r{3} = rrr</a:t>
            </a:r>
            <a:r>
              <a:rPr sz="1400" b="0" i="0">
                <a:solidFill>
                  <a:srgbClr val="5B6B7F"/>
                </a:solidFill>
                <a:latin typeface="Courier New"/>
              </a:rPr>
              <a:t>   a{3}</a:t>
            </a:r>
          </a:p>
        </p:txBody>
      </p:sp>
      <p:pic>
        <p:nvPicPr>
          <p:cNvPr id="20" name="Picture 19" descr="mini_5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83879" y="4538603"/>
            <a:ext cx="3246120" cy="52399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48640" y="5852160"/>
            <a:ext cx="110642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5B6B7F"/>
                </a:solidFill>
                <a:latin typeface="Calibri"/>
              </a:rPr>
              <a:t>Setas tracejadas = movimentos ε.  </a:t>
            </a:r>
            <a:r>
              <a:rPr sz="1400" b="0" i="0">
                <a:solidFill>
                  <a:srgbClr val="5B6B7F"/>
                </a:solidFill>
                <a:latin typeface="Calibri"/>
              </a:rPr>
              <a:t>Simplificações que preservam a linguagem: a concatenação funde o final de r com o início de s, e r? usa um único ε para pular 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B6B7F"/>
                </a:solidFill>
                <a:latin typeface="Calibri"/>
              </a:rPr>
              <a:t>ER-01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CNPJ do cliente (alfanumérico ou numérico)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4297680" cy="48463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ALFABETO (Σ)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39319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D = {0, 1, 2, 3, 4, 5, 6, 7, 8, 9} (dígitos)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M = {A, B, C, …, Z} (26 letras maiúsculas, sem acento)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A = M ∪ D (símbolos permitidos na raiz e na ordem do CNPJ)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Σ = M ∪ D ∪ {'.', '/', '-'}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1188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LINGUAGEM 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31920"/>
            <a:ext cx="39319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F2933"/>
                </a:solidFill>
                <a:latin typeface="Calibri"/>
              </a:rPr>
              <a:t>Cadeias com 14 caracteres significativos: os 12 primeiros pertencem a A (letras maiúsculas ou dígitos) e os 2 últimos, os dígitos verificadores, pertencem a D. A cadeia é escrita sem máscara (14 símbolos seguidos) ou com a máscara completa AA.AAA.AAA/AAAA-DD; máscaras parciais não pertencem a 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41732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ER FORMAL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1691640"/>
            <a:ext cx="6492240" cy="868680"/>
          </a:xfrm>
          <a:prstGeom prst="roundRect">
            <a:avLst>
              <a:gd name="adj" fmla="val 8000"/>
            </a:avLst>
          </a:prstGeom>
          <a:solidFill>
            <a:srgbClr val="E6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1691640"/>
            <a:ext cx="6217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F2933"/>
                </a:solidFill>
                <a:latin typeface="Cambria Math"/>
              </a:rPr>
              <a:t>A{2} '.' A{3} '.' A{3} '/' A{4} '-' D{2}  |  A{12} D{2}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651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SINTAXE NO CÓDIGO (PYTHON)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926080"/>
            <a:ext cx="6492240" cy="731520"/>
          </a:xfrm>
          <a:prstGeom prst="roundRect">
            <a:avLst>
              <a:gd name="adj" fmla="val 8000"/>
            </a:avLst>
          </a:prstGeom>
          <a:solidFill>
            <a:srgbClr val="0F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2926080"/>
            <a:ext cx="62636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E3F0FF"/>
                </a:solidFill>
                <a:latin typeface="Courier New"/>
              </a:rPr>
              <a:t>re.fullmatch(r"[A-Z0-9]{2}\.[A-Z0-9]{3}\.[A-Z0-9]{3}/[A-Z0-9]{4}-[0-9]{2}|[A-Z0-9]{12}[0-9]{2}", cadeia)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3794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EQUIVALÊNCIA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411480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[A-Z0-9]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411480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Classe finita: A = M ∪ D = (A | B | … | Z | 0 | 1 | … | 9)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448056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[0-9]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448056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Intervalo finito: D = (0 | 1 | … | 9)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484632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{2}, {3}, {4}, {12}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84632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Repetição exata: r{m} = r r … r (m cópias concatenadas)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521208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\.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521208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Ponto literal '.' (o escape remove o significado de "qualquer caractere")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557784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/  e  -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80" y="557784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Símbolos literais '/' e '-' (fora de classes não são operadores)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594360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|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594360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União das duas formas: com máscara | sem máscara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B6B7F"/>
                </a:solidFill>
                <a:latin typeface="Calibri"/>
              </a:rPr>
              <a:t>ER-01 · CNPJ do cliente (alfanumérico ou numérico)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AFNε e testes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36 estados · 36 transições · 4 movimentos ε · inicial q0 · final q32 (círculo duplo)</a:t>
            </a:r>
          </a:p>
        </p:txBody>
      </p:sp>
      <p:pic>
        <p:nvPicPr>
          <p:cNvPr id="5" name="Picture 4" descr="cnpj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00200"/>
            <a:ext cx="8083495" cy="890674"/>
          </a:xfrm>
          <a:prstGeom prst="rect">
            <a:avLst/>
          </a:prstGeom>
        </p:spPr>
      </p:pic>
      <p:pic>
        <p:nvPicPr>
          <p:cNvPr id="6" name="Picture 5" descr="cnpj_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857500"/>
            <a:ext cx="11064240" cy="89067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" y="42519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7B45"/>
                </a:solidFill>
                <a:latin typeface="Calibri"/>
              </a:rPr>
              <a:t>ACEITAS (8)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42519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REJEITADAS (8)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12.ABC.345/01DE-35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9184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38328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12ABC34501DE35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008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11.222.333/0001-81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9184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11222333000181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4864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A1.B2C.3D4/E5F6-07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329184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38328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AB.CDE.FGH/IJKL-12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4864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ZZZZZZZZZZZZ99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29184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8328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00.000.000/0000-00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7220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6364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ε (vazia)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1540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12.abc.345/01de-35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7220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6364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12.ABC.345/01DE-3A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1540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00684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12ABC345/01DE-35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17220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6364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12.ABC.345/01DE35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1540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00684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12ABC34501DE3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17220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26364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12ABC34501DE356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1540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00684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␣11222333000181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7F"/>
                </a:solidFill>
                <a:latin typeface="Calibri"/>
              </a:rPr>
              <a:t>16/16 corretos em re.fullmatch e no AFNε · 4 casos-limite · lista completa com descrições em docs/EXPRESSOES.md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B6B7F"/>
                </a:solidFill>
                <a:latin typeface="Calibri"/>
              </a:rPr>
              <a:t>ER-02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Placa do veículo (padrão antigo ou Mercosul)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4297680" cy="48463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ALFABETO (Σ)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39319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D = {0, 1, 2, 3, 4, 5, 6, 7, 8, 9} (dígitos)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M = {A, B, C, …, Z} (26 letras maiúsculas, sem acento)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Σ = M ∪ D ∪ {'-'}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1188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LINGUAGEM 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31920"/>
            <a:ext cx="39319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F2933"/>
                </a:solidFill>
                <a:latin typeface="Calibri"/>
              </a:rPr>
              <a:t>Três letras maiúsculas seguidas de: (a) quatro dígitos, com ou sem um hífen entre as letras e os dígitos (padrão antigo); ou (b) dígito, letra e dois dígitos, sem hífen (padrão Mercosul).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41732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ER FORMAL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1691640"/>
            <a:ext cx="6492240" cy="868680"/>
          </a:xfrm>
          <a:prstGeom prst="roundRect">
            <a:avLst>
              <a:gd name="adj" fmla="val 8000"/>
            </a:avLst>
          </a:prstGeom>
          <a:solidFill>
            <a:srgbClr val="E6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1691640"/>
            <a:ext cx="6217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F2933"/>
                </a:solidFill>
                <a:latin typeface="Cambria Math"/>
              </a:rPr>
              <a:t>M{3} ( ('-' | ε) D{4}  |  D M D{2} 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651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SINTAXE NO CÓDIGO (PYTHON)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926080"/>
            <a:ext cx="6492240" cy="731520"/>
          </a:xfrm>
          <a:prstGeom prst="roundRect">
            <a:avLst>
              <a:gd name="adj" fmla="val 8000"/>
            </a:avLst>
          </a:prstGeom>
          <a:solidFill>
            <a:srgbClr val="0F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2926080"/>
            <a:ext cx="62636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E3F0FF"/>
                </a:solidFill>
                <a:latin typeface="Courier New"/>
              </a:rPr>
              <a:t>re.fullmatch(r"[A-Z]{3}(-?[0-9]{4}|[0-9][A-Z][0-9]{2})", cadeia)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3794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EQUIVALÊNCIA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411480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[A-Z]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411480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Intervalo finito: M = (A | B | … | Z)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448056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[0-9]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448056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Intervalo finito: D = (0 | 1 | … | 9)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484632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{3}, {4}, {2}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84632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Repetição exata (concatenação de cópias)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521208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-?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521208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Opcionalidade: ('-' | ε)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557784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( … | … 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80" y="557784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Agrupamento da união entre padrão antigo e padrão Mercosul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B6B7F"/>
                </a:solidFill>
                <a:latin typeface="Calibri"/>
              </a:rPr>
              <a:t>ER-02 · Placa do veículo (padrão antigo ou Mercosul)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AFNε e testes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16 estados · 17 transições · 5 movimentos ε · inicial q0 · final q15 (círculo duplo)</a:t>
            </a:r>
          </a:p>
        </p:txBody>
      </p:sp>
      <p:pic>
        <p:nvPicPr>
          <p:cNvPr id="5" name="Picture 4" descr="er-02-pla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273059"/>
            <a:ext cx="11064240" cy="112316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2519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7B45"/>
                </a:solidFill>
                <a:latin typeface="Calibri"/>
              </a:rPr>
              <a:t>ACEITAS (8)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42519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REJEITADAS (8)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ABC-1234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ABC1234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BRA2E19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RIO2A18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QWE0Z00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9184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MNO-5678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AAA-0000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9184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328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ZZZ9Z99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ε (vazia)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1540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684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abc1d23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364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ABC-1D23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1540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684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AB-1234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364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ABC12345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1540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0684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ABC␣1234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ABC1DE3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1540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0684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ABC-123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7F"/>
                </a:solidFill>
                <a:latin typeface="Calibri"/>
              </a:rPr>
              <a:t>16/16 corretos em re.fullmatch e no AFNε · 4 casos-limite · lista completa com descrições em docs/EXPRESSOES.md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B6B7F"/>
                </a:solidFill>
                <a:latin typeface="Calibri"/>
              </a:rPr>
              <a:t>ER-03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Telefone do motorista (fixo ou celular, com DDD válido)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4297680" cy="48463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ALFABETO (Σ)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39319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F2933"/>
                </a:solidFill>
                <a:latin typeface="Calibri"/>
              </a:rPr>
              <a:t>D = {0, 1, 2, 3, 4, 5, 6, 7, 8, 9} (dígitos)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F2933"/>
                </a:solidFill>
                <a:latin typeface="Calibri"/>
              </a:rPr>
              <a:t>P = D − {0} = {1, 2, …, 9} (dígitos sem o zero)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F2933"/>
                </a:solidFill>
                <a:latin typeface="Calibri"/>
              </a:rPr>
              <a:t>F = {2, 3, 4, 5} (primeiro dígito de telefone fixo)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F2933"/>
                </a:solidFill>
                <a:latin typeface="Calibri"/>
              </a:rPr>
              <a:t>K = 1P | 2(1|2|4|7|8) | 3(1|2|3|4|5|7|8) | 4P | 5(1|3|4|5) | 6P | 7(1|3|4|5|7|9) | 8P | 9P  (os 67 DDDs em uso)</a:t>
            </a:r>
          </a:p>
          <a:p>
            <a:pPr algn="l">
              <a:spcAft>
                <a:spcPts val="300"/>
              </a:spcAft>
            </a:pPr>
            <a:r>
              <a:rPr sz="1100" b="0" i="0">
                <a:solidFill>
                  <a:srgbClr val="1F2933"/>
                </a:solidFill>
                <a:latin typeface="Calibri"/>
              </a:rPr>
              <a:t>Σ = D ∪ {'+', '(', ')', '-', ␣}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1188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LINGUAGEM 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31920"/>
            <a:ext cx="39319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F2933"/>
                </a:solidFill>
                <a:latin typeface="Calibri"/>
              </a:rPr>
              <a:t>Números de telefone formados por: prefixo internacional +55 opcional (seguido ou não de espaço); DDD pertencente a K, entre parênteses ou sem eles; espaço opcional; número de celular (9 seguido de 8 dígitos) ou fixo (dígito de 2 a 5 seguido de 7 dígitos), com hífen opcional antes dos 4 últimos dígitos.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41732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ER FORMAL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1691640"/>
            <a:ext cx="6492240" cy="868680"/>
          </a:xfrm>
          <a:prstGeom prst="roundRect">
            <a:avLst>
              <a:gd name="adj" fmla="val 8000"/>
            </a:avLst>
          </a:prstGeom>
          <a:solidFill>
            <a:srgbClr val="E6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1691640"/>
            <a:ext cx="6217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F2933"/>
                </a:solidFill>
                <a:latin typeface="Cambria Math"/>
              </a:rPr>
              <a:t>( '+' 55 (␣ | ε) | ε ) ( '(' K ')' | K ) (␣ | ε) ( 9 D{4} | F D{3} ) ('-' | ε) D{4}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651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SINTAXE NO CÓDIGO (PYTHON)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926080"/>
            <a:ext cx="6492240" cy="1188720"/>
          </a:xfrm>
          <a:prstGeom prst="roundRect">
            <a:avLst>
              <a:gd name="adj" fmla="val 8000"/>
            </a:avLst>
          </a:prstGeom>
          <a:solidFill>
            <a:srgbClr val="0F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2926080"/>
            <a:ext cx="6263640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0" i="0">
                <a:solidFill>
                  <a:srgbClr val="E3F0FF"/>
                </a:solidFill>
                <a:latin typeface="Courier New"/>
              </a:rPr>
              <a:t>re.fullmatch(r"(\+55 ?)?(\((1[1-9]|2[12478]|3[1-578]|4[1-9]|5[1345]|6[1-9]|7[134579]|8[1-9]|9[1-9])\)|(1[1-9]|2[12478]|3[1-578]|4[1-9]|5[1345]|6[1-9]|7[134579]|8[1-9]|9[1-9])) ?(9[0-9]{4}|[2-5][0-9]{3})-?[0-9]{4}", cadeia)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42519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EQUIVALÊNCIA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457200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\+  \(  \)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457200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Símbolos literais '+', '(' e ')' (escapados porque são operadores)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493776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(\+55 ?)?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493776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Opcionalidade aninhada: ('+' 5 5 (␣ | ε) | ε)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530352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[1-9]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530352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Intervalo: P = (1 | 2 | … | 9)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566928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[12478], [1-578], [1345], [134579]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566928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Classes finitas: (1|2|4|7|8), (1|2|3|4|5|7|8), ...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B6B7F"/>
                </a:solidFill>
                <a:latin typeface="Calibri"/>
              </a:rPr>
              <a:t>ER-03 · Telefone do motorista (fixo ou celular, com DDD válido)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AFNε correspondente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84 estados · 105 transições · 48 movimentos ε · inicial q0 · final q83 (círculo duplo)</a:t>
            </a:r>
          </a:p>
        </p:txBody>
      </p:sp>
      <p:pic>
        <p:nvPicPr>
          <p:cNvPr id="5" name="Picture 4" descr="er-03-telef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869" y="1600200"/>
            <a:ext cx="10917780" cy="4937760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548640" y="210312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48640" y="2103120"/>
            <a:ext cx="2651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B2A41"/>
                </a:solidFill>
                <a:latin typeface="Calibri"/>
              </a:rPr>
              <a:t>'(' K ')'  DDD com parênteses  →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580644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5806440"/>
            <a:ext cx="2651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B2A41"/>
                </a:solidFill>
                <a:latin typeface="Calibri"/>
              </a:rPr>
              <a:t>↑ '+' 55 (␣ | ε)  opcional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212080" y="603504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12080" y="6035040"/>
            <a:ext cx="2651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B2A41"/>
                </a:solidFill>
                <a:latin typeface="Calibri"/>
              </a:rPr>
              <a:t>← K  DDD sem parênteses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680960" y="356616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2A5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0" y="3566160"/>
            <a:ext cx="265176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100" b="1" i="0">
                <a:solidFill>
                  <a:srgbClr val="1B2A41"/>
                </a:solidFill>
                <a:latin typeface="Calibri"/>
              </a:rPr>
              <a:t>↓ celular 9D{4} | fixo FD{3}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B6B7F"/>
                </a:solidFill>
                <a:latin typeface="Calibri"/>
              </a:rPr>
              <a:t>ER-03 · Telefone do motorista (fixo ou celular, com DDD válido)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Testes e o porquê de o DDD aparecer duas vezes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11064240" cy="146304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10607040" cy="12801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1" i="0">
                <a:solidFill>
                  <a:srgbClr val="1B2A41"/>
                </a:solidFill>
                <a:latin typeface="Calibri"/>
              </a:rPr>
              <a:t>Parênteses balanceados: </a:t>
            </a:r>
            <a:r>
              <a:rPr sz="1500" b="0" i="0">
                <a:solidFill>
                  <a:srgbClr val="1F2933"/>
                </a:solidFill>
                <a:latin typeface="Calibri"/>
              </a:rPr>
              <a:t>a ER é  '(' K ')' | K  — e não  '('? K ')'? , que aceitaria  (11 91234-5678.</a:t>
            </a:r>
          </a:p>
          <a:p>
            <a:pPr algn="l">
              <a:spcAft>
                <a:spcPts val="600"/>
              </a:spcAft>
            </a:pPr>
            <a:r>
              <a:rPr sz="1500" b="0" i="0">
                <a:solidFill>
                  <a:srgbClr val="1F2933"/>
                </a:solidFill>
                <a:latin typeface="Calibri"/>
              </a:rPr>
              <a:t>Uma ER não tem memória para lembrar que abriu um parêntese; por isso a subexpressão K dos 67 DDDs é repetida, e o AFNε tem dois blocos de DDD.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32004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7B45"/>
                </a:solidFill>
                <a:latin typeface="Calibri"/>
              </a:rPr>
              <a:t>ACEITAS (8)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320040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REJEITADAS (8)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566160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+55␣(11)␣91234-5678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3566160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3566160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(21)␣3456-7890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133087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133087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11912345678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4133087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4133087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+5561987654321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700016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4700016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(47)98888-0000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91840" y="4700016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4700016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85␣3222-1100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266944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266944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+55␣31␣2345-6789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91840" y="5266944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3280" y="5266944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(99)␣90000-0000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3566160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3566160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ε (vazia)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15400" y="3566160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6840" y="3566160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(11␣91234-5678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4133087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3640" y="4133087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(23)␣91234-5678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15400" y="4133087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6840" y="4133087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11␣81234-5678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4700016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3640" y="4700016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11␣6123-4567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15400" y="4700016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06840" y="4700016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+55␣␣11␣91234-5678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5266944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5266944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11␣91234-567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15400" y="5266944"/>
            <a:ext cx="2651760" cy="457200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06840" y="5266944"/>
            <a:ext cx="25146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200" b="0" i="0">
                <a:solidFill>
                  <a:srgbClr val="1F2933"/>
                </a:solidFill>
                <a:latin typeface="Courier New"/>
              </a:rPr>
              <a:t>+1␣(11)␣91234-5678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7F"/>
                </a:solidFill>
                <a:latin typeface="Calibri"/>
              </a:rPr>
              <a:t>16/16 corretos em re.fullmatch e no AFNε · 3 casos-limite · lista completa com descrições em docs/EXPRESSOES.md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B6B7F"/>
                </a:solidFill>
                <a:latin typeface="Calibri"/>
              </a:rPr>
              <a:t>ER-04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Data da coleta (DD/MM/AAAA com dia compatível com o mês)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4297680" cy="48463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ALFABETO (Σ)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39319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D = {0, 1, 2, 3, 4, 5, 6, 7, 8, 9} (dígitos)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P = D − {0} = {1, 2, …, 9} (dígitos sem o zero)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Σ = D ∪ {'/'}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1188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LINGUAGEM 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31920"/>
            <a:ext cx="39319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F2933"/>
                </a:solidFill>
                <a:latin typeface="Calibri"/>
              </a:rPr>
              <a:t>Datas DD/MM/AAAA com ano entre 1900 e 2099 em que: os dias 01 a 29 ocorrem em qualquer mês; o dia 30 ocorre em todos os meses exceto fevereiro; e o dia 31 ocorre apenas em janeiro, março, maio, julho, agosto, outubro e dezembro.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41732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ER FORMAL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1691640"/>
            <a:ext cx="6492240" cy="868680"/>
          </a:xfrm>
          <a:prstGeom prst="roundRect">
            <a:avLst>
              <a:gd name="adj" fmla="val 8000"/>
            </a:avLst>
          </a:prstGeom>
          <a:solidFill>
            <a:srgbClr val="E6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1691640"/>
            <a:ext cx="6217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3"/>
                </a:solidFill>
                <a:latin typeface="Cambria Math"/>
              </a:rPr>
              <a:t>( (0P | (1|2)D) '/' (0P | 1(0|1|2))  |  30 '/' (0(1|3|4|5|6|7|8|9) | 1(0|1|2))  |  31 '/' (0(1|3|5|7|8) | 1(0|2)) ) '/' (19 | 20) D{2}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651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SINTAXE NO CÓDIGO (PYTHON)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926080"/>
            <a:ext cx="6492240" cy="731520"/>
          </a:xfrm>
          <a:prstGeom prst="roundRect">
            <a:avLst>
              <a:gd name="adj" fmla="val 8000"/>
            </a:avLst>
          </a:prstGeom>
          <a:solidFill>
            <a:srgbClr val="0F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2926080"/>
            <a:ext cx="62636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E3F0FF"/>
                </a:solidFill>
                <a:latin typeface="Courier New"/>
              </a:rPr>
              <a:t>re.fullmatch(r"((0[1-9]|[12][0-9])/(0[1-9]|1[0-2])|30/(0[13-9]|1[0-2])|31/(0[13578]|1[02]))/(19|20)[0-9]{2}", cadeia)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3794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EQUIVALÊNCIA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411480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0[1-9]|[12][0-9]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411480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Dias 01–29: (0P | (1|2)D)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448056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0[1-9]|1[0-2]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448056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Meses 01–12: (0P | 1(0|1|2))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484632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[13-9]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84632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Classe com intervalo: (1 | 3 | 4 | 5 | 6 | 7 | 8 | 9), ou seja, sem o 2 (fevereiro)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521208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[13578], [02]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521208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Classes finitas dos meses com 31 dias: (1|3|5|7|8) e (0|2)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557784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19|20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80" y="557784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União das duas possibilidades de século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594360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[0-9]{2}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594360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Repetição exata: D D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B6B7F"/>
                </a:solidFill>
                <a:latin typeface="Calibri"/>
              </a:rPr>
              <a:t>ER-04 · Data da coleta (DD/MM/AAAA com dia compatível com o mês)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AFNε e testes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50 estados · 56 transições · 26 movimentos ε · inicial q0 · final q49 (círculo duplo)</a:t>
            </a:r>
          </a:p>
        </p:txBody>
      </p:sp>
      <p:pic>
        <p:nvPicPr>
          <p:cNvPr id="5" name="Picture 4" descr="er-04-dat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71424"/>
            <a:ext cx="11064240" cy="232643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2519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7B45"/>
                </a:solidFill>
                <a:latin typeface="Calibri"/>
              </a:rPr>
              <a:t>ACEITAS (8)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42519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REJEITADAS (8)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01/01/2000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15/08/2025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29/02/2024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30/04/2026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31/12/1999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9184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31/01/1900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28/02/2099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9184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328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29/02/2023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ε (vazia)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1540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684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31/04/2025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364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30/02/2024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1540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684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00/10/2020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364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15/13/2020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1540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0684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1/1/2020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15/08/2100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1540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0684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15-08-2020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7F"/>
                </a:solidFill>
                <a:latin typeface="Calibri"/>
              </a:rPr>
              <a:t>16/16 corretos em re.fullmatch e no AFNε · 5 casos-limite · lista completa com descrições em docs/EXPRESSOES.md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B6B7F"/>
                </a:solidFill>
                <a:latin typeface="Calibri"/>
              </a:rPr>
              <a:t>ER-05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Valor do frete em reais (R$)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417320"/>
            <a:ext cx="4297680" cy="48463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55448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ALFABETO (Σ)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" y="1874519"/>
            <a:ext cx="393192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D = {0, 1, 2, 3, 4, 5, 6, 7, 8, 9} (dígitos)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P = D − {0} = {1, 2, …, 9} (dígitos sem o zero)</a:t>
            </a:r>
          </a:p>
          <a:p>
            <a:pPr algn="l">
              <a:spcAft>
                <a:spcPts val="300"/>
              </a:spcAft>
            </a:pPr>
            <a:r>
              <a:rPr sz="1250" b="0" i="0">
                <a:solidFill>
                  <a:srgbClr val="1F2933"/>
                </a:solidFill>
                <a:latin typeface="Calibri"/>
              </a:rPr>
              <a:t>Σ = D ∪ {R, '$', ␣, '.', ','}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611880"/>
            <a:ext cx="3931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LINGUAGEM 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3931920"/>
            <a:ext cx="3931920" cy="2286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50" b="0" i="0">
                <a:solidFill>
                  <a:srgbClr val="1F2933"/>
                </a:solidFill>
                <a:latin typeface="Calibri"/>
              </a:rPr>
              <a:t>Cadeias iniciadas por R$, com espaço opcional, seguidas da parte inteira — 0, ou um número sem zero à esquerda escrito inteiramente com separadores de milhar '.' em grupos de três dígitos, ou inteiramente sem separadores — e, por fim, vírgula e dois dígitos de centavos.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141732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ER FORMAL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120640" y="1691640"/>
            <a:ext cx="6492240" cy="868680"/>
          </a:xfrm>
          <a:prstGeom prst="roundRect">
            <a:avLst>
              <a:gd name="adj" fmla="val 8000"/>
            </a:avLst>
          </a:prstGeom>
          <a:solidFill>
            <a:srgbClr val="E6EE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257800" y="1691640"/>
            <a:ext cx="6217920" cy="8686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F2933"/>
                </a:solidFill>
                <a:latin typeface="Cambria Math"/>
              </a:rPr>
              <a:t>R '$' (␣ | ε) ( 0  |  P D{0,2} ('.' D{3})*  |  P D* ) ',' D{2}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651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SINTAXE NO CÓDIGO (PYTHON)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120640" y="2926080"/>
            <a:ext cx="6492240" cy="731520"/>
          </a:xfrm>
          <a:prstGeom prst="roundRect">
            <a:avLst>
              <a:gd name="adj" fmla="val 8000"/>
            </a:avLst>
          </a:prstGeom>
          <a:solidFill>
            <a:srgbClr val="0F1E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257800" y="2926080"/>
            <a:ext cx="626364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E3F0FF"/>
                </a:solidFill>
                <a:latin typeface="Courier New"/>
              </a:rPr>
              <a:t>re.fullmatch(r"R\$ ?(0|[1-9][0-9]{0,2}(\.[0-9]{3})*|[1-9][0-9]*),[0-9]{2}", cadeia)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37947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5B6B7F"/>
                </a:solidFill>
                <a:latin typeface="Calibri"/>
              </a:rPr>
              <a:t>EQUIVALÊNCIA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411480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R\$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69480" y="411480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Símbolos literais R e '$' ($ é escapado porque é âncora de fim no motor)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20640" y="448056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 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69480" y="448056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Opcionalidade do espaço: (␣ | ε)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484632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[1-9][0-9]{0,2}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69480" y="484632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Repetição limitada: P D{0,2} = P (ε | D | DD)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120640" y="521208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(\.[0-9]{3})*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69480" y="521208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Fecho de Kleene: zero ou mais grupos de milhar '.' D D 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557784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[1-9][0-9]*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69480" y="557784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Fecho de Kleene: P D* (inteiro sem separadores)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120640" y="5943600"/>
            <a:ext cx="21031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1" i="0">
                <a:solidFill>
                  <a:srgbClr val="1B2A41"/>
                </a:solidFill>
                <a:latin typeface="Courier New"/>
              </a:rPr>
              <a:t>,[0-9]{2}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269480" y="5943600"/>
            <a:ext cx="43434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1F2933"/>
                </a:solidFill>
                <a:latin typeface="Calibri"/>
              </a:rPr>
              <a:t>Vírgula literal seguida de exatamente dois dígitos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320040"/>
            <a:ext cx="7315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5B6B7F"/>
                </a:solidFill>
                <a:latin typeface="Calibri"/>
              </a:rPr>
              <a:t>ER-05 · Valor do frete em reais (R$)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59436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AFNε e testes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188720"/>
            <a:ext cx="110642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25 estados · 33 transições · 17 movimentos ε · inicial q0 · final q20 (círculo duplo)</a:t>
            </a:r>
          </a:p>
        </p:txBody>
      </p:sp>
      <p:pic>
        <p:nvPicPr>
          <p:cNvPr id="5" name="Picture 4" descr="er-05-va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938252"/>
            <a:ext cx="11064240" cy="1792775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48640" y="42519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1E7B45"/>
                </a:solidFill>
                <a:latin typeface="Calibri"/>
              </a:rPr>
              <a:t>ACEITAS (8)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172200" y="425196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1" i="0">
                <a:solidFill>
                  <a:srgbClr val="B42318"/>
                </a:solidFill>
                <a:latin typeface="Calibri"/>
              </a:rPr>
              <a:t>REJEITADAS (8)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R$␣1.234,56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9184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38328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R$1500,00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R$␣0,99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9184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8328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R$␣12.345.678,90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R$␣1000000,00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9184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38328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R$␣7,00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R$␣0,00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29184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E3F4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38328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1E7B45"/>
                </a:solidFill>
                <a:latin typeface="Calibri"/>
              </a:rPr>
              <a:t>✓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R$␣999,99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7220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6364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ε (vazia)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915400" y="4572000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006840" y="4572000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R$␣01,50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17220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6364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R$␣1.23,45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915400" y="4965192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6840" y="4965192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R$␣1234.567,00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17220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6364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R$␣10,5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915400" y="5358384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006840" y="5358384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1.234,56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7220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26364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R$␣1,234.56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915400" y="5751576"/>
            <a:ext cx="2651760" cy="329184"/>
          </a:xfrm>
          <a:prstGeom prst="roundRect">
            <a:avLst>
              <a:gd name="adj" fmla="val 30000"/>
            </a:avLst>
          </a:prstGeom>
          <a:solidFill>
            <a:srgbClr val="FDE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006840" y="5751576"/>
            <a:ext cx="2514600" cy="32918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1050" b="1" i="0">
                <a:solidFill>
                  <a:srgbClr val="B42318"/>
                </a:solidFill>
                <a:latin typeface="Calibri"/>
              </a:rPr>
              <a:t>✗ </a:t>
            </a:r>
            <a:r>
              <a:rPr sz="1050" b="0" i="0">
                <a:solidFill>
                  <a:srgbClr val="1F2933"/>
                </a:solidFill>
                <a:latin typeface="Courier New"/>
              </a:rPr>
              <a:t>R$␣-10,00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5B6B7F"/>
                </a:solidFill>
                <a:latin typeface="Calibri"/>
              </a:rPr>
              <a:t>16/16 corretos em re.fullmatch e no AFNε · 4 casos-limite · lista completa com descrições em docs/EXPRESSOES.md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Entradas vazias ou inválidas geram mensagens claras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5440680" cy="14173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544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A41"/>
                </a:solidFill>
                <a:latin typeface="Calibri"/>
              </a:rPr>
              <a:t>Valor vazio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" y="1947672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3"/>
                </a:solidFill>
                <a:latin typeface="Calibri"/>
              </a:rPr>
              <a:t>Entrada vazia (ε): a palavra vazia não pertence à linguagem desta ER.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417320"/>
            <a:ext cx="5440680" cy="14173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0" y="15544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A41"/>
                </a:solidFill>
                <a:latin typeface="Calibri"/>
              </a:rPr>
              <a:t>Símbolo fora de 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1947672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3"/>
                </a:solidFill>
                <a:latin typeface="Calibri"/>
              </a:rPr>
              <a:t>O símbolo ␣ (posição 19) não pertence ao alfabeto Σ. Verifique se há espaços sobrando no início ou no fim.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017520"/>
            <a:ext cx="5440680" cy="14173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15467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A41"/>
                </a:solidFill>
                <a:latin typeface="Calibri"/>
              </a:rPr>
              <a:t>Falha no AFNε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547872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3"/>
                </a:solidFill>
                <a:latin typeface="Calibri"/>
              </a:rPr>
              <a:t>Rejeitada na posição 5: depois de ler "31/0", o AFNε não tem transição com o símbolo '4'.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2200" y="3017520"/>
            <a:ext cx="5440680" cy="14173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0" y="3154679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A41"/>
                </a:solidFill>
                <a:latin typeface="Calibri"/>
              </a:rPr>
              <a:t>Cadeia incompleta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3547872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3"/>
                </a:solidFill>
                <a:latin typeface="Calibri"/>
              </a:rPr>
              <a:t>Toda a entrada foi lida, mas o AFNε terminou em estados não finais.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4617720"/>
            <a:ext cx="5440680" cy="14173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77240" y="47548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A41"/>
                </a:solidFill>
                <a:latin typeface="Calibri"/>
              </a:rPr>
              <a:t>Arquivo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148072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3"/>
                </a:solidFill>
                <a:latin typeface="Calibri"/>
              </a:rPr>
              <a:t>Nenhum arquivo, extensão diferente de .csv, vazio, binário, maior que 1 MB ou sem registros.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4617720"/>
            <a:ext cx="5440680" cy="141732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0" y="4754880"/>
            <a:ext cx="5029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A41"/>
                </a:solidFill>
                <a:latin typeface="Calibri"/>
              </a:rPr>
              <a:t>Estrutura do CSV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5148072"/>
            <a:ext cx="50292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1F2933"/>
                </a:solidFill>
                <a:latin typeface="Calibri"/>
              </a:rPr>
              <a:t>Colunas ausentes no cabeçalho; linha com colunas a mais ou a menos é sinalizada e o restante continua sendo processado.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48640" y="626364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1">
                <a:solidFill>
                  <a:srgbClr val="5B6B7F"/>
                </a:solidFill>
                <a:latin typeface="Calibri"/>
              </a:rPr>
              <a:t>Espaços extras não são removidos: " 11222333000181" é rejeitado, exatamente como nos testes — o programa reconhece a mesma linguagem da 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Demonstração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2A541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80160" y="141732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A41"/>
                </a:solidFill>
                <a:latin typeface="Calibri"/>
              </a:rPr>
              <a:t>Cadeia aceita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76479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BRA2E19 → ER-02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5176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2A541"/>
                </a:solidFill>
                <a:latin typeface="Calibri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260604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A41"/>
                </a:solidFill>
                <a:latin typeface="Calibri"/>
              </a:rPr>
              <a:t>Cadeia rejeitada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95351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(23) 91234-5678 → DDD inexistente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384048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48640" y="384048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2A541"/>
                </a:solidFill>
                <a:latin typeface="Calibri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79476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A41"/>
                </a:solidFill>
                <a:latin typeface="Calibri"/>
              </a:rPr>
              <a:t>Planilha de exemplo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14223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15 fretes: 5 válidos, 10 com erros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5029200"/>
            <a:ext cx="548640" cy="548640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5029200"/>
            <a:ext cx="5486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1800" b="1" i="0">
                <a:solidFill>
                  <a:srgbClr val="F2A541"/>
                </a:solidFill>
                <a:latin typeface="Calibri"/>
              </a:rPr>
              <a:t>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80160" y="4983480"/>
            <a:ext cx="3017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1B2A41"/>
                </a:solidFill>
                <a:latin typeface="Calibri"/>
              </a:rPr>
              <a:t>Simulação no AFNε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330952"/>
            <a:ext cx="30175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5B6B7F"/>
                </a:solidFill>
                <a:latin typeface="Calibri"/>
              </a:rPr>
              <a:t>estados ativos a cada símbolo</a:t>
            </a:r>
          </a:p>
        </p:txBody>
      </p:sp>
      <p:pic>
        <p:nvPicPr>
          <p:cNvPr id="19" name="Picture 18" descr="tela_valid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0" y="1624488"/>
            <a:ext cx="7040880" cy="1917382"/>
          </a:xfrm>
          <a:prstGeom prst="rect">
            <a:avLst/>
          </a:prstGeom>
        </p:spPr>
      </p:pic>
      <p:pic>
        <p:nvPicPr>
          <p:cNvPr id="20" name="Picture 19" descr="tela_simulaca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6946" y="3931920"/>
            <a:ext cx="4930986" cy="2377440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5B6B7F"/>
                </a:solidFill>
                <a:latin typeface="Calibri"/>
              </a:rPr>
              <a:t>Executar: python -m validafrete  →  http://127.0.0.1:5050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FFFFFF"/>
                </a:solidFill>
                <a:latin typeface="Cambria"/>
              </a:rPr>
              <a:t>Testes e análise dos resultados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1645920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2A541"/>
                </a:solidFill>
                <a:latin typeface="Cambria"/>
              </a:rPr>
              <a:t>223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2651760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testes automatizados
(pytest)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1645920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2A541"/>
                </a:solidFill>
                <a:latin typeface="Cambria"/>
              </a:rPr>
              <a:t>80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651760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casos das ERs
8 aceitas + 8 rejeitadas por 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0" y="1645920"/>
            <a:ext cx="356616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2A541"/>
                </a:solidFill>
                <a:latin typeface="Cambria"/>
              </a:rPr>
              <a:t>15.000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0" y="2651760"/>
            <a:ext cx="35661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cadeias comparando
AFNε × re.fullmatch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1645920"/>
            <a:ext cx="22860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400" b="1" i="0">
                <a:solidFill>
                  <a:srgbClr val="F2A541"/>
                </a:solidFill>
                <a:latin typeface="Cambria"/>
              </a:rPr>
              <a:t>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2651760"/>
            <a:ext cx="22860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 i="0">
                <a:solidFill>
                  <a:srgbClr val="CADCFC"/>
                </a:solidFill>
                <a:latin typeface="Calibri"/>
              </a:rPr>
              <a:t>falhas ou
divergências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886200"/>
            <a:ext cx="110642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FALSOS RESULTADOS CONHECIDOS (a ER valida o formato, não a aritmética)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297680"/>
            <a:ext cx="110642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ourier New"/>
              </a:rPr>
              <a:t>ER-01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00.000.000/0000-00 é aceito: dígitos verificadores não são calculados.</a:t>
            </a:r>
          </a:p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ourier New"/>
              </a:rPr>
              <a:t>ER-03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DDD existente com número inativo é aceito.</a:t>
            </a:r>
          </a:p>
          <a:p>
            <a:pPr algn="l">
              <a:spcAft>
                <a:spcPts val="800"/>
              </a:spcAft>
            </a:pPr>
            <a:r>
              <a:rPr sz="1600" b="1" i="0">
                <a:solidFill>
                  <a:srgbClr val="FFFFFF"/>
                </a:solidFill>
                <a:latin typeface="Courier New"/>
              </a:rPr>
              <a:t>ER-04  </a:t>
            </a:r>
            <a:r>
              <a:rPr sz="1600" b="0" i="0">
                <a:solidFill>
                  <a:srgbClr val="FFFFFF"/>
                </a:solidFill>
                <a:latin typeface="Calibri"/>
              </a:rPr>
              <a:t>29/02/2023 é aceito: a ER não distingue anos bissextos.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6400800"/>
            <a:ext cx="110642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9FB0C6"/>
                </a:solidFill>
                <a:latin typeface="Calibri"/>
              </a:rPr>
              <a:t>Detalhes: docs/RESULTADOS_TESTES.md · página Testes da aplicação · python -m pytest -v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Limitações e possíveis melhorias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17320"/>
            <a:ext cx="5440680" cy="448056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59" y="164592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B42318"/>
                </a:solidFill>
                <a:latin typeface="Cambria"/>
              </a:rPr>
              <a:t>Limitações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2377440"/>
            <a:ext cx="49377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spcAft>
                <a:spcPts val="1400"/>
              </a:spcAft>
              <a:buChar char="•"/>
            </a:pPr>
            <a:r>
              <a:rPr sz="1800" b="0" i="0">
                <a:solidFill>
                  <a:srgbClr val="1F2933"/>
                </a:solidFill>
                <a:latin typeface="Calibri"/>
              </a:rPr>
              <a:t>Formato ≠ existência: DV do CNPJ, placa registrada e telefone ativo não são consultados.</a:t>
            </a:r>
          </a:p>
          <a:p>
            <a:pPr algn="l" marL="201168" indent="-201168">
              <a:spcAft>
                <a:spcPts val="1400"/>
              </a:spcAft>
              <a:buChar char="•"/>
            </a:pPr>
            <a:r>
              <a:rPr sz="1800" b="0" i="0">
                <a:solidFill>
                  <a:srgbClr val="1F2933"/>
                </a:solidFill>
                <a:latin typeface="Calibri"/>
              </a:rPr>
              <a:t>29/02 aceito em qualquer ano (ER-04).</a:t>
            </a:r>
          </a:p>
          <a:p>
            <a:pPr algn="l" marL="201168" indent="-201168">
              <a:spcAft>
                <a:spcPts val="1400"/>
              </a:spcAft>
              <a:buChar char="•"/>
            </a:pPr>
            <a:r>
              <a:rPr sz="1800" b="0" i="0">
                <a:solidFill>
                  <a:srgbClr val="1F2933"/>
                </a:solidFill>
                <a:latin typeface="Calibri"/>
              </a:rPr>
              <a:t>Sensível a maiúsculas e espaços, de propósito, para não alterar a linguagem.</a:t>
            </a:r>
          </a:p>
          <a:p>
            <a:pPr algn="l" marL="201168" indent="-201168">
              <a:spcAft>
                <a:spcPts val="1400"/>
              </a:spcAft>
              <a:buChar char="•"/>
            </a:pPr>
            <a:r>
              <a:rPr sz="1800" b="0" i="0">
                <a:solidFill>
                  <a:srgbClr val="1F2933"/>
                </a:solidFill>
                <a:latin typeface="Calibri"/>
              </a:rPr>
              <a:t>AFNε de Thompson são grandes (84 estados na ER-03).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72200" y="1417320"/>
            <a:ext cx="5440680" cy="448056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46520" y="1645920"/>
            <a:ext cx="49377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400" b="1" i="0">
                <a:solidFill>
                  <a:srgbClr val="1E7B45"/>
                </a:solidFill>
                <a:latin typeface="Cambria"/>
              </a:rPr>
              <a:t>Melhorias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46520" y="2377440"/>
            <a:ext cx="4937760" cy="3383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 marL="201168" indent="-201168">
              <a:spcAft>
                <a:spcPts val="1400"/>
              </a:spcAft>
              <a:buChar char="•"/>
            </a:pPr>
            <a:r>
              <a:rPr sz="1800" b="0" i="0">
                <a:solidFill>
                  <a:srgbClr val="1F2933"/>
                </a:solidFill>
                <a:latin typeface="Calibri"/>
              </a:rPr>
              <a:t>Validação semântica após a ER: DV módulo 11 e anos bissextos.</a:t>
            </a:r>
          </a:p>
          <a:p>
            <a:pPr algn="l" marL="201168" indent="-201168">
              <a:spcAft>
                <a:spcPts val="1400"/>
              </a:spcAft>
              <a:buChar char="•"/>
            </a:pPr>
            <a:r>
              <a:rPr sz="1800" b="0" i="0">
                <a:solidFill>
                  <a:srgbClr val="1F2933"/>
                </a:solidFill>
                <a:latin typeface="Calibri"/>
              </a:rPr>
              <a:t>Converter AFNε em AFD (subconjuntos) e minimizar.</a:t>
            </a:r>
          </a:p>
          <a:p>
            <a:pPr algn="l" marL="201168" indent="-201168">
              <a:spcAft>
                <a:spcPts val="1400"/>
              </a:spcAft>
              <a:buChar char="•"/>
            </a:pPr>
            <a:r>
              <a:rPr sz="1800" b="0" i="0">
                <a:solidFill>
                  <a:srgbClr val="1F2933"/>
                </a:solidFill>
                <a:latin typeface="Calibri"/>
              </a:rPr>
              <a:t>Normalização opcional com aviso ao usuário.</a:t>
            </a:r>
          </a:p>
          <a:p>
            <a:pPr algn="l" marL="201168" indent="-201168">
              <a:spcAft>
                <a:spcPts val="1400"/>
              </a:spcAft>
              <a:buChar char="•"/>
            </a:pPr>
            <a:r>
              <a:rPr sz="1800" b="0" i="0">
                <a:solidFill>
                  <a:srgbClr val="1F2933"/>
                </a:solidFill>
                <a:latin typeface="Calibri"/>
              </a:rPr>
              <a:t>Novas ERs: CEP, chave da NF-e, RNTRC; planilhas .xlsx.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106424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200" b="1" i="0">
                <a:solidFill>
                  <a:srgbClr val="1B2A41"/>
                </a:solidFill>
                <a:latin typeface="Cambria"/>
              </a:rPr>
              <a:t>Contribuições da equipe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48640" y="1463040"/>
            <a:ext cx="3520440" cy="283464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22959" y="1691640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59" y="169164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2A541"/>
                </a:solidFill>
                <a:latin typeface="Calibri"/>
              </a:rPr>
              <a:t>YA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91640" y="1691640"/>
            <a:ext cx="22860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B2A41"/>
                </a:solidFill>
                <a:latin typeface="Cambria"/>
              </a:rPr>
              <a:t>Yuri Aguiar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59" y="2651760"/>
            <a:ext cx="3017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F2933"/>
                </a:solidFill>
                <a:latin typeface="Calibri"/>
              </a:rPr>
              <a:t>Arquitetura, as 5 ERs, AFNε (Thompson), validador, CSV, interface web, testes automatizados, documentação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463040"/>
            <a:ext cx="3520440" cy="283464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571999" y="1691640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69164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2A541"/>
                </a:solidFill>
                <a:latin typeface="Calibri"/>
              </a:rPr>
              <a:t>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40679" y="1691640"/>
            <a:ext cx="22860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B2A41"/>
                </a:solidFill>
                <a:latin typeface="Cambria"/>
              </a:rPr>
              <a:t>Pedro Paulo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651760"/>
            <a:ext cx="3017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F2933"/>
                </a:solidFill>
                <a:latin typeface="Calibri"/>
              </a:rPr>
              <a:t>Dados de exemplo, casos de teste das ER-01 e ER-02, revisão da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6719" y="1463040"/>
            <a:ext cx="3520440" cy="2834640"/>
          </a:xfrm>
          <a:prstGeom prst="roundRect">
            <a:avLst>
              <a:gd name="adj" fmla="val 8000"/>
            </a:avLst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321040" y="1691640"/>
            <a:ext cx="731520" cy="731520"/>
          </a:xfrm>
          <a:prstGeom prst="roundRect">
            <a:avLst>
              <a:gd name="adj" fmla="val 50000"/>
            </a:avLst>
          </a:prstGeom>
          <a:solidFill>
            <a:srgbClr val="1B2A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21040" y="1691640"/>
            <a:ext cx="73152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F2A541"/>
                </a:solidFill>
                <a:latin typeface="Calibri"/>
              </a:rPr>
              <a:t>JR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89719" y="1691640"/>
            <a:ext cx="2286000" cy="7315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/>
            <a:r>
              <a:rPr sz="2000" b="1" i="0">
                <a:solidFill>
                  <a:srgbClr val="1B2A41"/>
                </a:solidFill>
                <a:latin typeface="Cambria"/>
              </a:rPr>
              <a:t>João Rath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0" y="2651760"/>
            <a:ext cx="3017520" cy="1463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1F2933"/>
                </a:solidFill>
                <a:latin typeface="Calibri"/>
              </a:rPr>
              <a:t>Casos de teste das ER-04 e ER-05, revisão da notação formal e do relatório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663440"/>
            <a:ext cx="11064240" cy="1143000"/>
          </a:xfrm>
          <a:prstGeom prst="roundRect">
            <a:avLst>
              <a:gd name="adj" fmla="val 8000"/>
            </a:avLst>
          </a:prstGeom>
          <a:solidFill>
            <a:srgbClr val="FFF6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7240" y="4773168"/>
            <a:ext cx="1060704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2933"/>
                </a:solidFill>
                <a:latin typeface="Calibri"/>
              </a:rPr>
              <a:t>Em conjunto: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definição do problema, escolha das ERs e revisão dos AFNε.</a:t>
            </a:r>
          </a:p>
          <a:p>
            <a:pPr algn="l">
              <a:spcAft>
                <a:spcPts val="600"/>
              </a:spcAft>
            </a:pPr>
            <a:r>
              <a:rPr sz="1300" b="1" i="0">
                <a:solidFill>
                  <a:srgbClr val="1F2933"/>
                </a:solidFill>
                <a:latin typeface="Calibri"/>
              </a:rPr>
              <a:t>Uso de IA: </a:t>
            </a:r>
            <a:r>
              <a:rPr sz="1300" b="0" i="0">
                <a:solidFill>
                  <a:srgbClr val="1F2933"/>
                </a:solidFill>
                <a:latin typeface="Calibri"/>
              </a:rPr>
              <a:t>Claude Code (Anthropic) apoiou a estrutura do projeto, o módulo do AFNε, os scripts de documentação e a redação inicial de README, relatório e slides. Todo o conteúdo foi revisado e é explicado pela equipe.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B2A4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2103120"/>
            <a:ext cx="1069848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6000" b="1" i="0">
                <a:solidFill>
                  <a:srgbClr val="FFFFFF"/>
                </a:solidFill>
                <a:latin typeface="Cambria"/>
              </a:rPr>
              <a:t>Obrigado!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3200400"/>
            <a:ext cx="106984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800" b="0" i="0">
                <a:solidFill>
                  <a:srgbClr val="F2A541"/>
                </a:solidFill>
                <a:latin typeface="Calibri"/>
              </a:rPr>
              <a:t>Perguntas?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4754880"/>
            <a:ext cx="106984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CADCFC"/>
                </a:solidFill>
                <a:latin typeface="Calibri"/>
              </a:rPr>
              <a:t>Repositório: github.com/yuriaguiardev/valida-frete</a:t>
            </a:r>
          </a:p>
          <a:p>
            <a:pPr algn="l">
              <a:spcAft>
                <a:spcPts val="600"/>
              </a:spcAft>
            </a:pPr>
            <a:r>
              <a:rPr sz="1600" b="0" i="0">
                <a:solidFill>
                  <a:srgbClr val="CADCFC"/>
                </a:solidFill>
                <a:latin typeface="Calibri"/>
              </a:rPr>
              <a:t>Yuri Aguiar · Pedro Paulo · João Rath — CC6NA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